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404" r:id="rId3"/>
    <p:sldId id="264" r:id="rId4"/>
    <p:sldId id="403" r:id="rId5"/>
    <p:sldId id="273" r:id="rId6"/>
    <p:sldId id="274" r:id="rId7"/>
    <p:sldId id="420" r:id="rId8"/>
    <p:sldId id="419" r:id="rId9"/>
    <p:sldId id="402" r:id="rId10"/>
    <p:sldId id="258" r:id="rId11"/>
    <p:sldId id="259" r:id="rId12"/>
    <p:sldId id="260" r:id="rId13"/>
    <p:sldId id="261" r:id="rId14"/>
    <p:sldId id="262" r:id="rId15"/>
    <p:sldId id="263" r:id="rId16"/>
    <p:sldId id="265" r:id="rId17"/>
    <p:sldId id="266" r:id="rId18"/>
    <p:sldId id="267" r:id="rId19"/>
    <p:sldId id="268" r:id="rId20"/>
    <p:sldId id="269" r:id="rId21"/>
    <p:sldId id="270" r:id="rId22"/>
    <p:sldId id="421" r:id="rId23"/>
    <p:sldId id="422" r:id="rId24"/>
    <p:sldId id="423" r:id="rId25"/>
    <p:sldId id="430" r:id="rId26"/>
    <p:sldId id="424" r:id="rId27"/>
    <p:sldId id="425" r:id="rId28"/>
    <p:sldId id="426" r:id="rId29"/>
    <p:sldId id="427" r:id="rId30"/>
    <p:sldId id="428" r:id="rId31"/>
    <p:sldId id="429" r:id="rId32"/>
    <p:sldId id="431" r:id="rId33"/>
    <p:sldId id="432" r:id="rId34"/>
    <p:sldId id="433" r:id="rId35"/>
    <p:sldId id="434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17"/>
  </p:normalViewPr>
  <p:slideViewPr>
    <p:cSldViewPr snapToGrid="0">
      <p:cViewPr varScale="1">
        <p:scale>
          <a:sx n="126" d="100"/>
          <a:sy n="126" d="100"/>
        </p:scale>
        <p:origin x="2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8/7/26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1F666-0460-F38C-3BEA-7C157EB21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521" y="1030261"/>
            <a:ext cx="8825658" cy="3329581"/>
          </a:xfrm>
        </p:spPr>
        <p:txBody>
          <a:bodyPr/>
          <a:lstStyle/>
          <a:p>
            <a:r>
              <a:rPr lang="en-US" dirty="0"/>
              <a:t>O Elias Profético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6DC4B-0261-49DA-4A53-9115059104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18580"/>
            <a:ext cx="8825658" cy="861420"/>
          </a:xfrm>
        </p:spPr>
        <p:txBody>
          <a:bodyPr/>
          <a:lstStyle/>
          <a:p>
            <a:r>
              <a:rPr lang="en-US" dirty="0"/>
              <a:t>Felipe Araujo – Sábado, 08 de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2675149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B5D9A-8CA4-38FB-2487-8AD5DD103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911" y="1529081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BR" sz="3200" dirty="0"/>
              <a:t>“E Elias, o tisbita, </a:t>
            </a:r>
            <a:r>
              <a:rPr lang="en-BR" sz="3200" i="1" dirty="0"/>
              <a:t>que era</a:t>
            </a:r>
            <a:r>
              <a:rPr lang="en-BR" sz="3200" dirty="0"/>
              <a:t> dos habitantes de Gileade, disse a Acabe: </a:t>
            </a:r>
            <a:r>
              <a:rPr lang="en-BR" sz="3200" i="1" dirty="0"/>
              <a:t>Como</a:t>
            </a:r>
            <a:r>
              <a:rPr lang="en-BR" sz="3200" dirty="0"/>
              <a:t> vive o SENHOR Deus de Israel, diante do qual me ponho de pé, não haverá orvalho, nem chuva nestes anos, senão segundo a minha palavra.” </a:t>
            </a:r>
            <a:r>
              <a:rPr lang="en-US" sz="3200" dirty="0"/>
              <a:t>I</a:t>
            </a:r>
            <a:r>
              <a:rPr lang="en-BR" sz="3200" dirty="0"/>
              <a:t> Reis 17:1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22591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DE2A8-A084-1CA9-3F24-49AFD459B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Quem </a:t>
            </a:r>
            <a:r>
              <a:rPr lang="en-US" b="1" dirty="0" err="1"/>
              <a:t>foi</a:t>
            </a:r>
            <a:r>
              <a:rPr lang="en-US" b="1" dirty="0"/>
              <a:t> Elias, o </a:t>
            </a:r>
            <a:r>
              <a:rPr lang="en-US" b="1" dirty="0" err="1"/>
              <a:t>Tesbita</a:t>
            </a:r>
            <a:r>
              <a:rPr lang="en-US" b="1" dirty="0"/>
              <a:t>?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B8795-A54F-2A9D-2008-B8DE82AB5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63935"/>
            <a:ext cx="8946541" cy="4195481"/>
          </a:xfrm>
        </p:spPr>
        <p:txBody>
          <a:bodyPr/>
          <a:lstStyle/>
          <a:p>
            <a:r>
              <a:rPr lang="en-US" b="1" dirty="0"/>
              <a:t>Yahweh </a:t>
            </a:r>
            <a:r>
              <a:rPr lang="en-US" b="1" dirty="0" err="1"/>
              <a:t>é</a:t>
            </a:r>
            <a:r>
              <a:rPr lang="en-US" b="1" dirty="0"/>
              <a:t> Meu Deus</a:t>
            </a:r>
          </a:p>
          <a:p>
            <a:r>
              <a:rPr lang="en-US" b="1" dirty="0"/>
              <a:t>Original de Gileade</a:t>
            </a:r>
          </a:p>
          <a:p>
            <a:r>
              <a:rPr lang="en-US" b="1" dirty="0" err="1"/>
              <a:t>Missão</a:t>
            </a:r>
            <a:r>
              <a:rPr lang="en-US" b="1" dirty="0"/>
              <a:t> </a:t>
            </a:r>
            <a:r>
              <a:rPr lang="en-US" b="1" dirty="0" err="1"/>
              <a:t>Urgente</a:t>
            </a:r>
            <a:r>
              <a:rPr lang="en-US" b="1" dirty="0"/>
              <a:t> num tempo de crise moral e </a:t>
            </a:r>
            <a:r>
              <a:rPr lang="en-US" b="1" dirty="0" err="1"/>
              <a:t>espiritual</a:t>
            </a:r>
            <a:endParaRPr lang="en-US" b="1" dirty="0"/>
          </a:p>
          <a:p>
            <a:r>
              <a:rPr lang="en-US" b="1" dirty="0"/>
              <a:t>Fiel e  </a:t>
            </a:r>
            <a:r>
              <a:rPr lang="en-US" b="1" dirty="0" err="1"/>
              <a:t>Corajoso</a:t>
            </a:r>
            <a:r>
              <a:rPr lang="en-US" b="1" dirty="0"/>
              <a:t> servo de Deus</a:t>
            </a:r>
          </a:p>
          <a:p>
            <a:r>
              <a:rPr lang="en-US" b="1" dirty="0" err="1"/>
              <a:t>Mensagem</a:t>
            </a:r>
            <a:r>
              <a:rPr lang="en-US" b="1" dirty="0"/>
              <a:t> de </a:t>
            </a:r>
            <a:r>
              <a:rPr lang="en-US" b="1" dirty="0" err="1"/>
              <a:t>Juízo</a:t>
            </a:r>
            <a:r>
              <a:rPr lang="en-US" b="1" dirty="0"/>
              <a:t> para o </a:t>
            </a:r>
            <a:r>
              <a:rPr lang="en-US" b="1" dirty="0" err="1"/>
              <a:t>povo</a:t>
            </a:r>
            <a:r>
              <a:rPr lang="en-US" b="1" dirty="0"/>
              <a:t> de Deus </a:t>
            </a:r>
            <a:r>
              <a:rPr lang="en-US" b="1" dirty="0" err="1"/>
              <a:t>devido</a:t>
            </a:r>
            <a:r>
              <a:rPr lang="en-US" b="1" dirty="0"/>
              <a:t> à </a:t>
            </a:r>
            <a:r>
              <a:rPr lang="en-US" b="1" dirty="0" err="1"/>
              <a:t>Apostasia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064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C433B-FCBF-C671-6036-10ECF8D12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que</a:t>
            </a:r>
            <a:r>
              <a:rPr lang="en-US" dirty="0"/>
              <a:t> Elias </a:t>
            </a:r>
            <a:r>
              <a:rPr lang="en-US" dirty="0" err="1"/>
              <a:t>tem</a:t>
            </a:r>
            <a:r>
              <a:rPr lang="en-US" dirty="0"/>
              <a:t> a </a:t>
            </a:r>
            <a:r>
              <a:rPr lang="en-US" dirty="0" err="1"/>
              <a:t>ver</a:t>
            </a:r>
            <a:r>
              <a:rPr lang="en-US" dirty="0"/>
              <a:t> </a:t>
            </a:r>
            <a:r>
              <a:rPr lang="en-US" dirty="0" err="1"/>
              <a:t>conosco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C25E4-668B-27A0-FEDE-5764EA94B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32" y="2103718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BR" dirty="0"/>
              <a:t>Enquanto desciam do monte, Jesus lhes ordenou, dizendo: A nenhum homem conteis a visão, até que o Filho do homem seja ressuscitado dentre os mortos. E os seus discípulos perguntaram-no, dizendo: Por que dizem então os escribas que Elias deverá vir primeiro? E Jesus, respondendo, disse-lhes: Em verdade </a:t>
            </a:r>
            <a:r>
              <a:rPr lang="en-BR" b="1" dirty="0"/>
              <a:t>Elias virá primeiro</a:t>
            </a:r>
            <a:r>
              <a:rPr lang="en-BR" dirty="0"/>
              <a:t>, </a:t>
            </a:r>
            <a:r>
              <a:rPr lang="en-BR" b="1" dirty="0"/>
              <a:t>e restaurará todas as coisas.</a:t>
            </a:r>
            <a:r>
              <a:rPr lang="en-BR" dirty="0"/>
              <a:t> Mas eu vos digo que </a:t>
            </a:r>
            <a:r>
              <a:rPr lang="en-BR" b="1" dirty="0"/>
              <a:t>Elias já veio</a:t>
            </a:r>
            <a:r>
              <a:rPr lang="en-BR" dirty="0"/>
              <a:t>, e eles não o reconheceram, mas fizeram-lhe tudo o que quiseram. Assim eles farão também sofrer o Filho do homem. Então compreenderam os discípulos que lhes falara de </a:t>
            </a:r>
            <a:r>
              <a:rPr lang="en-BR" b="1" dirty="0"/>
              <a:t>João, o Batista</a:t>
            </a:r>
            <a:r>
              <a:rPr lang="en-B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065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090E6-872E-621A-04B7-F56E2C197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22D4E-679A-F794-6914-255F24053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O </a:t>
            </a:r>
            <a:r>
              <a:rPr lang="en-US" sz="4000" b="1" dirty="0" err="1"/>
              <a:t>Anúncio</a:t>
            </a:r>
            <a:r>
              <a:rPr lang="en-US" sz="4000" b="1" dirty="0"/>
              <a:t> da </a:t>
            </a:r>
            <a:r>
              <a:rPr lang="en-US" sz="4000" b="1" dirty="0" err="1"/>
              <a:t>vinda</a:t>
            </a:r>
            <a:r>
              <a:rPr lang="en-US" sz="4000" b="1" dirty="0"/>
              <a:t> de Elias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372C7-3211-291F-3D3D-1E1A2B04B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63935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BR" sz="2400" dirty="0"/>
              <a:t>“Eis que </a:t>
            </a:r>
            <a:r>
              <a:rPr lang="en-BR" sz="2400" b="1" dirty="0"/>
              <a:t>eu enviarei o meu mensageiro</a:t>
            </a:r>
            <a:r>
              <a:rPr lang="en-BR" sz="2400" dirty="0"/>
              <a:t>, e ele preparará o caminho diante de mim; e o Senhor, a quem vós buscais, virá de repente ao seu templo; até o mensageiro do pacto, em quem vos deleitais; eis que ele </a:t>
            </a:r>
            <a:r>
              <a:rPr lang="en-BR" sz="2400" i="1" dirty="0"/>
              <a:t>virá</a:t>
            </a:r>
            <a:r>
              <a:rPr lang="en-BR" sz="2400" dirty="0"/>
              <a:t>, diz o ­SENHOR dos Exércitos.” Ml 3:1</a:t>
            </a:r>
          </a:p>
          <a:p>
            <a:pPr marL="0" indent="0">
              <a:buNone/>
            </a:pPr>
            <a:endParaRPr lang="en-BR" sz="2400" dirty="0"/>
          </a:p>
          <a:p>
            <a:pPr marL="0" indent="0">
              <a:buNone/>
            </a:pPr>
            <a:r>
              <a:rPr lang="en-BR" sz="2400" dirty="0"/>
              <a:t>“Eis que eu vos enviarei </a:t>
            </a:r>
            <a:r>
              <a:rPr lang="en-BR" sz="2400" b="1" dirty="0"/>
              <a:t>Elias, o profeta</a:t>
            </a:r>
            <a:r>
              <a:rPr lang="en-BR" sz="2400" dirty="0"/>
              <a:t>, antes da vinda do grande e terrível dia do SENHOR; e ele converterá o coração dos pais aos filhos, e o coração dos filhos a seus pais; para que eu não venha e fira a terra com uma maldição.” Ml 4:5,6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31747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FA46C-FE57-E91A-E240-8C9BCB992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3373D-6611-B2FB-095A-7B7BF7237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Anúncio</a:t>
            </a:r>
            <a:r>
              <a:rPr lang="en-US" dirty="0"/>
              <a:t> da </a:t>
            </a:r>
            <a:r>
              <a:rPr lang="en-US" dirty="0" err="1"/>
              <a:t>vinda</a:t>
            </a:r>
            <a:r>
              <a:rPr lang="en-US" dirty="0"/>
              <a:t> de Elias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1B102-DBA0-1890-5DBF-B757863F7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74952"/>
            <a:ext cx="8946541" cy="41954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BR" sz="2800" dirty="0"/>
              <a:t>O profeta Elias. Esta profecia levou muitos dos judeus dos últimos tempos a esperar um retorno do próprio Elias à Terra (ver Jo 1:21). No entanto, </a:t>
            </a:r>
            <a:r>
              <a:rPr lang="en-BR" sz="2800" b="1" dirty="0"/>
              <a:t>esta é uma profecia de alguém que viria </a:t>
            </a:r>
            <a:r>
              <a:rPr lang="en-BR" sz="2800" dirty="0"/>
              <a:t>"no espírito e poder de Elias" (Lc 1:17), isto é, que pregaria uma mensagem semelhante à de Elias. Antes do primeiro advento de Cristo, esta obra foi cumprida por João, o Batista (Mt 17:12, 13; Lc 1:16, 17; ver com. de MI 3:1), e antes da segunda vinda de Cristo </a:t>
            </a:r>
            <a:r>
              <a:rPr lang="en-BR" sz="2800" b="1" dirty="0"/>
              <a:t>uma obra semelhante</a:t>
            </a:r>
            <a:r>
              <a:rPr lang="en-BR" sz="2800" dirty="0"/>
              <a:t> será feita por </a:t>
            </a:r>
            <a:r>
              <a:rPr lang="en-BR" sz="2800" b="1" dirty="0"/>
              <a:t>aqueles que pregam as três mensagens angélicas </a:t>
            </a:r>
            <a:r>
              <a:rPr lang="en-BR" sz="2800" dirty="0"/>
              <a:t>ao mundo (ver com. de 1Rs 18:19-44; Mt 3:3, 4; 11:14). CBASD vol. 4, p. 1247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080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D9AE9-D771-6E47-64CD-B00B53A4C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Quem Elias </a:t>
            </a:r>
            <a:r>
              <a:rPr lang="en-US" b="1" dirty="0" err="1"/>
              <a:t>representa</a:t>
            </a:r>
            <a:r>
              <a:rPr lang="en-US" b="1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5CA5A-FE6C-6D55-1021-476DB5FBA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2124038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BR" sz="3600" dirty="0"/>
              <a:t>“Os que devem </a:t>
            </a:r>
            <a:r>
              <a:rPr lang="en-BR" sz="3600" b="1" dirty="0"/>
              <a:t>preparar o caminho </a:t>
            </a:r>
            <a:r>
              <a:rPr lang="en-BR" sz="3600" dirty="0"/>
              <a:t>para a segunda vinda de Cristo são representados pelo fiel Elias, assim como João veio no espírito de Elias a fim de </a:t>
            </a:r>
            <a:r>
              <a:rPr lang="en-BR" sz="3600" b="1" dirty="0"/>
              <a:t>preparar o caminho </a:t>
            </a:r>
            <a:r>
              <a:rPr lang="en-BR" sz="3600" dirty="0"/>
              <a:t>para o primeiro advento de Cristo.” Ma 15.2</a:t>
            </a:r>
            <a:br>
              <a:rPr lang="en-BR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85880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223DA-3C6B-C086-09D8-64051DC6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>
            <a:extLst>
              <a:ext uri="{FF2B5EF4-FFF2-40B4-BE49-F238E27FC236}">
                <a16:creationId xmlns:a16="http://schemas.microsoft.com/office/drawing/2014/main" id="{5E8F8658-78CE-3289-ADB5-E8F872C94800}"/>
              </a:ext>
            </a:extLst>
          </p:cNvPr>
          <p:cNvSpPr/>
          <p:nvPr/>
        </p:nvSpPr>
        <p:spPr>
          <a:xfrm>
            <a:off x="-6350" y="0"/>
            <a:ext cx="12198350" cy="6851650"/>
          </a:xfrm>
          <a:prstGeom prst="rect">
            <a:avLst/>
          </a:prstGeom>
          <a:solidFill>
            <a:srgbClr val="35AE97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2921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000"/>
          </a:p>
        </p:txBody>
      </p:sp>
      <p:sp>
        <p:nvSpPr>
          <p:cNvPr id="240" name="Shape 240">
            <a:extLst>
              <a:ext uri="{FF2B5EF4-FFF2-40B4-BE49-F238E27FC236}">
                <a16:creationId xmlns:a16="http://schemas.microsoft.com/office/drawing/2014/main" id="{2D455078-CD8B-A31C-BDF3-C111F0DB39B3}"/>
              </a:ext>
            </a:extLst>
          </p:cNvPr>
          <p:cNvSpPr/>
          <p:nvPr/>
        </p:nvSpPr>
        <p:spPr>
          <a:xfrm>
            <a:off x="2669395" y="358618"/>
            <a:ext cx="6489701" cy="1146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19050" tIns="19050" rIns="19050" bIns="19050" anchor="ctr">
            <a:spAutoFit/>
          </a:bodyPr>
          <a:lstStyle>
            <a:lvl1pPr defTabSz="914400">
              <a:buClr>
                <a:srgbClr val="FFFB00"/>
              </a:buClr>
              <a:buFont typeface="AR ESSENCE"/>
              <a:defRPr sz="14400">
                <a:solidFill>
                  <a:srgbClr val="313D51"/>
                </a:solidFill>
                <a:uFill>
                  <a:solidFill>
                    <a:srgbClr val="313D51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lvl1pPr>
          </a:lstStyle>
          <a:p>
            <a:r>
              <a:rPr sz="7200"/>
              <a:t>OS TRÊS ELIAS</a:t>
            </a:r>
          </a:p>
        </p:txBody>
      </p:sp>
      <p:sp>
        <p:nvSpPr>
          <p:cNvPr id="241" name="Shape 241">
            <a:extLst>
              <a:ext uri="{FF2B5EF4-FFF2-40B4-BE49-F238E27FC236}">
                <a16:creationId xmlns:a16="http://schemas.microsoft.com/office/drawing/2014/main" id="{A60DF86F-B977-4CDA-56AA-A051A52D4CA8}"/>
              </a:ext>
            </a:extLst>
          </p:cNvPr>
          <p:cNvSpPr/>
          <p:nvPr/>
        </p:nvSpPr>
        <p:spPr>
          <a:xfrm>
            <a:off x="1587500" y="2176770"/>
            <a:ext cx="4719241" cy="789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342900" indent="-342900" algn="l" defTabSz="914400">
              <a:spcBef>
                <a:spcPts val="800"/>
              </a:spcBef>
              <a:buClr>
                <a:srgbClr val="FFFFFF"/>
              </a:buClr>
              <a:buFont typeface="Berlin Sans FB"/>
              <a:defRPr sz="9600">
                <a:solidFill>
                  <a:srgbClr val="ECF0F1"/>
                </a:solidFill>
                <a:uFill>
                  <a:solidFill>
                    <a:srgbClr val="ECF0F1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lvl1pPr>
          </a:lstStyle>
          <a:p>
            <a:r>
              <a:rPr sz="4800"/>
              <a:t>1- O Profeta Elias</a:t>
            </a:r>
          </a:p>
        </p:txBody>
      </p:sp>
      <p:sp>
        <p:nvSpPr>
          <p:cNvPr id="242" name="Shape 242">
            <a:extLst>
              <a:ext uri="{FF2B5EF4-FFF2-40B4-BE49-F238E27FC236}">
                <a16:creationId xmlns:a16="http://schemas.microsoft.com/office/drawing/2014/main" id="{7D7C2A23-C4E4-1905-6045-B4E2FBDA2B49}"/>
              </a:ext>
            </a:extLst>
          </p:cNvPr>
          <p:cNvSpPr/>
          <p:nvPr/>
        </p:nvSpPr>
        <p:spPr>
          <a:xfrm>
            <a:off x="1562100" y="3586470"/>
            <a:ext cx="4185313" cy="789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342900" indent="-342900" algn="l" defTabSz="914400">
              <a:spcBef>
                <a:spcPts val="800"/>
              </a:spcBef>
              <a:buClr>
                <a:srgbClr val="FFFFFF"/>
              </a:buClr>
              <a:buFont typeface="Berlin Sans FB"/>
              <a:defRPr sz="9600">
                <a:solidFill>
                  <a:srgbClr val="ECF0F1"/>
                </a:solidFill>
                <a:uFill>
                  <a:solidFill>
                    <a:srgbClr val="ECF0F1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lvl1pPr>
          </a:lstStyle>
          <a:p>
            <a:r>
              <a:rPr sz="4800"/>
              <a:t>2- João Batista </a:t>
            </a:r>
          </a:p>
        </p:txBody>
      </p:sp>
      <p:sp>
        <p:nvSpPr>
          <p:cNvPr id="243" name="Shape 243">
            <a:extLst>
              <a:ext uri="{FF2B5EF4-FFF2-40B4-BE49-F238E27FC236}">
                <a16:creationId xmlns:a16="http://schemas.microsoft.com/office/drawing/2014/main" id="{DDC8E0CB-D63A-8332-4683-F2FA00B21726}"/>
              </a:ext>
            </a:extLst>
          </p:cNvPr>
          <p:cNvSpPr/>
          <p:nvPr/>
        </p:nvSpPr>
        <p:spPr>
          <a:xfrm>
            <a:off x="1524000" y="5002520"/>
            <a:ext cx="4566956" cy="789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342900" indent="-342900" algn="l" defTabSz="914400">
              <a:spcBef>
                <a:spcPts val="800"/>
              </a:spcBef>
              <a:buClr>
                <a:srgbClr val="FFFFFF"/>
              </a:buClr>
              <a:buFont typeface="Berlin Sans FB"/>
              <a:defRPr sz="9600">
                <a:solidFill>
                  <a:srgbClr val="ECF0F1"/>
                </a:solidFill>
                <a:uFill>
                  <a:solidFill>
                    <a:srgbClr val="ECF0F1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lvl1pPr>
          </a:lstStyle>
          <a:p>
            <a:r>
              <a:rPr sz="4800"/>
              <a:t>3- Elias Profético</a:t>
            </a:r>
          </a:p>
        </p:txBody>
      </p:sp>
      <p:pic>
        <p:nvPicPr>
          <p:cNvPr id="244" name="droppedImage.pdf">
            <a:extLst>
              <a:ext uri="{FF2B5EF4-FFF2-40B4-BE49-F238E27FC236}">
                <a16:creationId xmlns:a16="http://schemas.microsoft.com/office/drawing/2014/main" id="{B98E7465-1DD7-3B19-3A03-458A6DB4B70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0100" y="171450"/>
            <a:ext cx="1524000" cy="1524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Shape 245">
            <a:extLst>
              <a:ext uri="{FF2B5EF4-FFF2-40B4-BE49-F238E27FC236}">
                <a16:creationId xmlns:a16="http://schemas.microsoft.com/office/drawing/2014/main" id="{174650BE-6DFB-952A-5342-B1A15F99A72C}"/>
              </a:ext>
            </a:extLst>
          </p:cNvPr>
          <p:cNvSpPr/>
          <p:nvPr/>
        </p:nvSpPr>
        <p:spPr>
          <a:xfrm>
            <a:off x="6092825" y="3689202"/>
            <a:ext cx="4846198" cy="666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914400">
              <a:spcBef>
                <a:spcPts val="800"/>
              </a:spcBef>
              <a:defRPr sz="7200" cap="all">
                <a:solidFill>
                  <a:srgbClr val="FBCF62"/>
                </a:solidFill>
                <a:uFill>
                  <a:solidFill>
                    <a:srgbClr val="FBCF62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lvl1pPr>
          </a:lstStyle>
          <a:p>
            <a:r>
              <a:rPr sz="4000" dirty="0"/>
              <a:t>O Elias que </a:t>
            </a:r>
            <a:r>
              <a:rPr sz="4000" dirty="0" err="1"/>
              <a:t>já</a:t>
            </a:r>
            <a:r>
              <a:rPr sz="4000" dirty="0"/>
              <a:t> </a:t>
            </a:r>
            <a:r>
              <a:rPr sz="4000" dirty="0" err="1"/>
              <a:t>veio</a:t>
            </a:r>
            <a:endParaRPr sz="4000" dirty="0"/>
          </a:p>
        </p:txBody>
      </p:sp>
      <p:sp>
        <p:nvSpPr>
          <p:cNvPr id="246" name="Shape 246">
            <a:extLst>
              <a:ext uri="{FF2B5EF4-FFF2-40B4-BE49-F238E27FC236}">
                <a16:creationId xmlns:a16="http://schemas.microsoft.com/office/drawing/2014/main" id="{04CE5A89-926B-D73B-7E53-C438FFF0BB6A}"/>
              </a:ext>
            </a:extLst>
          </p:cNvPr>
          <p:cNvSpPr/>
          <p:nvPr/>
        </p:nvSpPr>
        <p:spPr>
          <a:xfrm>
            <a:off x="2235200" y="4243954"/>
            <a:ext cx="6869987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algn="l" defTabSz="914400">
              <a:spcBef>
                <a:spcPts val="800"/>
              </a:spcBef>
              <a:defRPr sz="7200">
                <a:solidFill>
                  <a:srgbClr val="2D3E50"/>
                </a:solidFill>
                <a:uFill>
                  <a:solidFill>
                    <a:srgbClr val="2D3E50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lvl1pPr>
          </a:lstStyle>
          <a:p>
            <a:r>
              <a:rPr sz="3600"/>
              <a:t>Mat. 17:10-13; Lucas 1:16, 17</a:t>
            </a:r>
          </a:p>
        </p:txBody>
      </p:sp>
      <p:sp>
        <p:nvSpPr>
          <p:cNvPr id="247" name="Shape 247">
            <a:extLst>
              <a:ext uri="{FF2B5EF4-FFF2-40B4-BE49-F238E27FC236}">
                <a16:creationId xmlns:a16="http://schemas.microsoft.com/office/drawing/2014/main" id="{5AE4B8A2-33DE-7084-EF0D-57EC5F1B4E24}"/>
              </a:ext>
            </a:extLst>
          </p:cNvPr>
          <p:cNvSpPr/>
          <p:nvPr/>
        </p:nvSpPr>
        <p:spPr>
          <a:xfrm>
            <a:off x="2362200" y="2808854"/>
            <a:ext cx="1856277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marL="342900" indent="-342900" algn="l" defTabSz="914400">
              <a:spcBef>
                <a:spcPts val="800"/>
              </a:spcBef>
              <a:buClr>
                <a:srgbClr val="FFFFFF"/>
              </a:buClr>
              <a:buFont typeface="Berlin Sans FB"/>
              <a:defRPr sz="7200">
                <a:solidFill>
                  <a:srgbClr val="2D3E50"/>
                </a:solidFill>
                <a:uFill>
                  <a:solidFill>
                    <a:srgbClr val="2D3E50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lvl1pPr>
          </a:lstStyle>
          <a:p>
            <a:r>
              <a:rPr sz="3600"/>
              <a:t>I e II Reis</a:t>
            </a:r>
          </a:p>
        </p:txBody>
      </p:sp>
      <p:sp>
        <p:nvSpPr>
          <p:cNvPr id="248" name="Shape 248">
            <a:extLst>
              <a:ext uri="{FF2B5EF4-FFF2-40B4-BE49-F238E27FC236}">
                <a16:creationId xmlns:a16="http://schemas.microsoft.com/office/drawing/2014/main" id="{40E7A12F-E945-B76A-852E-229210A0CCF5}"/>
              </a:ext>
            </a:extLst>
          </p:cNvPr>
          <p:cNvSpPr/>
          <p:nvPr/>
        </p:nvSpPr>
        <p:spPr>
          <a:xfrm>
            <a:off x="6092825" y="5083027"/>
            <a:ext cx="4653518" cy="666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628650" lvl="2" indent="-171450">
              <a:spcBef>
                <a:spcPts val="400"/>
              </a:spcBef>
              <a:buClr>
                <a:srgbClr val="FFFFFF"/>
              </a:buClr>
              <a:buFont typeface="Berlin Sans FB"/>
              <a:defRPr sz="7200" cap="all">
                <a:solidFill>
                  <a:srgbClr val="FBCF62"/>
                </a:solidFill>
                <a:uFill>
                  <a:solidFill>
                    <a:srgbClr val="FBCF62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pPr>
            <a:r>
              <a:rPr sz="4000" dirty="0"/>
              <a:t>O Elias que </a:t>
            </a:r>
            <a:r>
              <a:rPr sz="4000" dirty="0" err="1"/>
              <a:t>virá</a:t>
            </a:r>
            <a:endParaRPr sz="4000" dirty="0"/>
          </a:p>
        </p:txBody>
      </p:sp>
      <p:sp>
        <p:nvSpPr>
          <p:cNvPr id="249" name="Shape 249">
            <a:extLst>
              <a:ext uri="{FF2B5EF4-FFF2-40B4-BE49-F238E27FC236}">
                <a16:creationId xmlns:a16="http://schemas.microsoft.com/office/drawing/2014/main" id="{7049A557-E8FA-CCE4-3D34-8E789721B32D}"/>
              </a:ext>
            </a:extLst>
          </p:cNvPr>
          <p:cNvSpPr/>
          <p:nvPr/>
        </p:nvSpPr>
        <p:spPr>
          <a:xfrm>
            <a:off x="1803400" y="5660004"/>
            <a:ext cx="4451540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marL="628650" lvl="2" indent="-171450">
              <a:spcBef>
                <a:spcPts val="400"/>
              </a:spcBef>
              <a:buClr>
                <a:srgbClr val="FFFFFF"/>
              </a:buClr>
              <a:buFont typeface="Berlin Sans FB"/>
              <a:defRPr sz="7200">
                <a:solidFill>
                  <a:srgbClr val="2D3E50"/>
                </a:solidFill>
                <a:uFill>
                  <a:solidFill>
                    <a:srgbClr val="2D3E50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pPr>
            <a:r>
              <a:rPr sz="3600"/>
              <a:t>Mal. 4:5; Mat. 17:11</a:t>
            </a:r>
          </a:p>
        </p:txBody>
      </p:sp>
    </p:spTree>
    <p:extLst>
      <p:ext uri="{BB962C8B-B14F-4D97-AF65-F5344CB8AC3E}">
        <p14:creationId xmlns:p14="http://schemas.microsoft.com/office/powerpoint/2010/main" val="30853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5A760-971E-D32A-9D17-C14629A87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hape 318">
            <a:extLst>
              <a:ext uri="{FF2B5EF4-FFF2-40B4-BE49-F238E27FC236}">
                <a16:creationId xmlns:a16="http://schemas.microsoft.com/office/drawing/2014/main" id="{90DD1C34-1A3A-64F9-A360-7B130233475A}"/>
              </a:ext>
            </a:extLst>
          </p:cNvPr>
          <p:cNvSpPr/>
          <p:nvPr/>
        </p:nvSpPr>
        <p:spPr>
          <a:xfrm>
            <a:off x="-3176" y="3175"/>
            <a:ext cx="12198351" cy="6851651"/>
          </a:xfrm>
          <a:prstGeom prst="rect">
            <a:avLst/>
          </a:prstGeom>
          <a:solidFill>
            <a:srgbClr val="2D3E50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defTabSz="2921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000"/>
          </a:p>
        </p:txBody>
      </p:sp>
      <p:pic>
        <p:nvPicPr>
          <p:cNvPr id="319" name="droppedImage.pdf">
            <a:extLst>
              <a:ext uri="{FF2B5EF4-FFF2-40B4-BE49-F238E27FC236}">
                <a16:creationId xmlns:a16="http://schemas.microsoft.com/office/drawing/2014/main" id="{CD472D5D-2E7E-13B6-625B-E32EFBB367B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16936" y="3292161"/>
            <a:ext cx="858979" cy="988427"/>
          </a:xfrm>
          <a:prstGeom prst="rect">
            <a:avLst/>
          </a:prstGeom>
          <a:ln w="12700">
            <a:miter lim="400000"/>
          </a:ln>
        </p:spPr>
      </p:pic>
      <p:pic>
        <p:nvPicPr>
          <p:cNvPr id="320" name="droppedImage.pdf">
            <a:extLst>
              <a:ext uri="{FF2B5EF4-FFF2-40B4-BE49-F238E27FC236}">
                <a16:creationId xmlns:a16="http://schemas.microsoft.com/office/drawing/2014/main" id="{CBDB30FB-5B91-2126-B677-D8EACE7D094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05525" y="938837"/>
            <a:ext cx="858979" cy="988427"/>
          </a:xfrm>
          <a:prstGeom prst="rect">
            <a:avLst/>
          </a:prstGeom>
          <a:ln w="12700">
            <a:miter lim="400000"/>
          </a:ln>
        </p:spPr>
      </p:pic>
      <p:pic>
        <p:nvPicPr>
          <p:cNvPr id="321" name="droppedImage.pdf">
            <a:extLst>
              <a:ext uri="{FF2B5EF4-FFF2-40B4-BE49-F238E27FC236}">
                <a16:creationId xmlns:a16="http://schemas.microsoft.com/office/drawing/2014/main" id="{9AE39F92-8938-B8D9-8670-DF2380755399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558171" y="4056306"/>
            <a:ext cx="858979" cy="988427"/>
          </a:xfrm>
          <a:prstGeom prst="rect">
            <a:avLst/>
          </a:prstGeom>
          <a:ln w="12700">
            <a:miter lim="400000"/>
          </a:ln>
        </p:spPr>
      </p:pic>
      <p:pic>
        <p:nvPicPr>
          <p:cNvPr id="322" name="droppedImage.pdf">
            <a:extLst>
              <a:ext uri="{FF2B5EF4-FFF2-40B4-BE49-F238E27FC236}">
                <a16:creationId xmlns:a16="http://schemas.microsoft.com/office/drawing/2014/main" id="{20E7C52E-D666-1BA6-0250-80ED87F2B840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009021" y="4829808"/>
            <a:ext cx="858979" cy="988427"/>
          </a:xfrm>
          <a:prstGeom prst="rect">
            <a:avLst/>
          </a:prstGeom>
          <a:ln w="12700">
            <a:miter lim="400000"/>
          </a:ln>
        </p:spPr>
      </p:pic>
      <p:pic>
        <p:nvPicPr>
          <p:cNvPr id="323" name="droppedImage.pdf">
            <a:extLst>
              <a:ext uri="{FF2B5EF4-FFF2-40B4-BE49-F238E27FC236}">
                <a16:creationId xmlns:a16="http://schemas.microsoft.com/office/drawing/2014/main" id="{A4C1AF5D-C097-D18F-9262-E9A1B0DF0702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035014" y="1732341"/>
            <a:ext cx="858979" cy="988427"/>
          </a:xfrm>
          <a:prstGeom prst="rect">
            <a:avLst/>
          </a:prstGeom>
          <a:ln w="12700">
            <a:miter lim="400000"/>
          </a:ln>
        </p:spPr>
      </p:pic>
      <p:pic>
        <p:nvPicPr>
          <p:cNvPr id="324" name="droppedImage.pdf">
            <a:extLst>
              <a:ext uri="{FF2B5EF4-FFF2-40B4-BE49-F238E27FC236}">
                <a16:creationId xmlns:a16="http://schemas.microsoft.com/office/drawing/2014/main" id="{EAE3EBFA-6C2D-BB73-BA01-13DC034524DA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587446" y="2508773"/>
            <a:ext cx="858979" cy="988427"/>
          </a:xfrm>
          <a:prstGeom prst="rect">
            <a:avLst/>
          </a:prstGeom>
          <a:ln w="12700">
            <a:miter lim="400000"/>
          </a:ln>
        </p:spPr>
      </p:pic>
      <p:pic>
        <p:nvPicPr>
          <p:cNvPr id="325" name="droppedImage.pdf">
            <a:extLst>
              <a:ext uri="{FF2B5EF4-FFF2-40B4-BE49-F238E27FC236}">
                <a16:creationId xmlns:a16="http://schemas.microsoft.com/office/drawing/2014/main" id="{40C9F4EA-B5E1-A796-6894-865E69384B87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561004" y="5610076"/>
            <a:ext cx="858979" cy="988427"/>
          </a:xfrm>
          <a:prstGeom prst="rect">
            <a:avLst/>
          </a:prstGeom>
          <a:ln w="12700">
            <a:miter lim="400000"/>
          </a:ln>
        </p:spPr>
      </p:pic>
      <p:sp>
        <p:nvSpPr>
          <p:cNvPr id="326" name="Shape 326">
            <a:extLst>
              <a:ext uri="{FF2B5EF4-FFF2-40B4-BE49-F238E27FC236}">
                <a16:creationId xmlns:a16="http://schemas.microsoft.com/office/drawing/2014/main" id="{7314A672-4826-BC67-02EA-A3E75783BE65}"/>
              </a:ext>
            </a:extLst>
          </p:cNvPr>
          <p:cNvSpPr/>
          <p:nvPr/>
        </p:nvSpPr>
        <p:spPr>
          <a:xfrm>
            <a:off x="3750239" y="3343290"/>
            <a:ext cx="2743035" cy="713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>
              <a:buClr>
                <a:srgbClr val="FFFFFF"/>
              </a:buClr>
              <a:buFont typeface="Berlin Sans FB"/>
              <a:defRPr sz="4300" cap="all">
                <a:solidFill>
                  <a:srgbClr val="ECF0F1"/>
                </a:solidFill>
                <a:uFill>
                  <a:solidFill>
                    <a:srgbClr val="ECF0F1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pPr>
            <a:r>
              <a:rPr sz="2150" dirty="0" err="1"/>
              <a:t>Votos</a:t>
            </a:r>
            <a:r>
              <a:rPr sz="2150" dirty="0"/>
              <a:t> </a:t>
            </a:r>
          </a:p>
          <a:p>
            <a:pPr>
              <a:buClr>
                <a:srgbClr val="FFFFFF"/>
              </a:buClr>
              <a:buFont typeface="Berlin Sans FB"/>
              <a:defRPr sz="4300" cap="all">
                <a:solidFill>
                  <a:srgbClr val="ECF0F1"/>
                </a:solidFill>
                <a:uFill>
                  <a:solidFill>
                    <a:srgbClr val="ECF0F1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pPr>
            <a:r>
              <a:rPr sz="2150" dirty="0" err="1"/>
              <a:t>matrimoniais</a:t>
            </a:r>
            <a:r>
              <a:rPr sz="2150" dirty="0"/>
              <a:t>	</a:t>
            </a:r>
          </a:p>
        </p:txBody>
      </p:sp>
      <p:sp>
        <p:nvSpPr>
          <p:cNvPr id="327" name="Shape 327">
            <a:extLst>
              <a:ext uri="{FF2B5EF4-FFF2-40B4-BE49-F238E27FC236}">
                <a16:creationId xmlns:a16="http://schemas.microsoft.com/office/drawing/2014/main" id="{AC768D53-F90C-3D24-632D-1FA907E3C5C4}"/>
              </a:ext>
            </a:extLst>
          </p:cNvPr>
          <p:cNvSpPr/>
          <p:nvPr/>
        </p:nvSpPr>
        <p:spPr>
          <a:xfrm>
            <a:off x="6555900" y="1233981"/>
            <a:ext cx="2821286" cy="382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r" defTabSz="914400">
              <a:buClr>
                <a:srgbClr val="FFFFFF"/>
              </a:buClr>
              <a:buFont typeface="Berlin Sans FB"/>
              <a:defRPr sz="4300" cap="all">
                <a:solidFill>
                  <a:srgbClr val="ECF0F1"/>
                </a:solidFill>
                <a:uFill>
                  <a:solidFill>
                    <a:srgbClr val="ECF0F1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lvl1pPr>
          </a:lstStyle>
          <a:p>
            <a:r>
              <a:rPr sz="2150" dirty="0"/>
              <a:t>O </a:t>
            </a:r>
            <a:r>
              <a:rPr sz="2150" dirty="0" err="1"/>
              <a:t>Mensageiro</a:t>
            </a:r>
            <a:r>
              <a:rPr sz="2150" dirty="0"/>
              <a:t>		</a:t>
            </a:r>
          </a:p>
        </p:txBody>
      </p:sp>
      <p:sp>
        <p:nvSpPr>
          <p:cNvPr id="328" name="Shape 328">
            <a:extLst>
              <a:ext uri="{FF2B5EF4-FFF2-40B4-BE49-F238E27FC236}">
                <a16:creationId xmlns:a16="http://schemas.microsoft.com/office/drawing/2014/main" id="{7F7FD886-D747-42B2-8D84-55B120B266F2}"/>
              </a:ext>
            </a:extLst>
          </p:cNvPr>
          <p:cNvSpPr/>
          <p:nvPr/>
        </p:nvSpPr>
        <p:spPr>
          <a:xfrm>
            <a:off x="6475700" y="4194011"/>
            <a:ext cx="1950277" cy="713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>
              <a:buClr>
                <a:srgbClr val="FFFFFF"/>
              </a:buClr>
              <a:buFont typeface="Berlin Sans FB"/>
              <a:defRPr sz="4300" cap="all">
                <a:solidFill>
                  <a:srgbClr val="ECF0F1"/>
                </a:solidFill>
                <a:uFill>
                  <a:solidFill>
                    <a:srgbClr val="ECF0F1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pPr>
            <a:r>
              <a:rPr sz="2150"/>
              <a:t>Juízo </a:t>
            </a:r>
          </a:p>
          <a:p>
            <a:pPr>
              <a:buClr>
                <a:srgbClr val="FFFFFF"/>
              </a:buClr>
              <a:buFont typeface="Berlin Sans FB"/>
              <a:defRPr sz="4300" cap="all">
                <a:solidFill>
                  <a:srgbClr val="ECF0F1"/>
                </a:solidFill>
                <a:uFill>
                  <a:solidFill>
                    <a:srgbClr val="ECF0F1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pPr>
            <a:r>
              <a:rPr sz="2150"/>
              <a:t>Investigativo</a:t>
            </a:r>
          </a:p>
        </p:txBody>
      </p:sp>
      <p:sp>
        <p:nvSpPr>
          <p:cNvPr id="329" name="Shape 329">
            <a:extLst>
              <a:ext uri="{FF2B5EF4-FFF2-40B4-BE49-F238E27FC236}">
                <a16:creationId xmlns:a16="http://schemas.microsoft.com/office/drawing/2014/main" id="{3673F0E6-5354-3969-C7B9-035474D900A0}"/>
              </a:ext>
            </a:extLst>
          </p:cNvPr>
          <p:cNvSpPr/>
          <p:nvPr/>
        </p:nvSpPr>
        <p:spPr>
          <a:xfrm>
            <a:off x="6587902" y="2661043"/>
            <a:ext cx="2172069" cy="713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>
              <a:buClr>
                <a:srgbClr val="FFFFFF"/>
              </a:buClr>
              <a:buFont typeface="Berlin Sans FB"/>
              <a:defRPr sz="4300" cap="all">
                <a:solidFill>
                  <a:srgbClr val="ECF0F1"/>
                </a:solidFill>
                <a:uFill>
                  <a:solidFill>
                    <a:srgbClr val="ECF0F1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pPr>
            <a:r>
              <a:rPr sz="2150" dirty="0" err="1"/>
              <a:t>Fidelidade</a:t>
            </a:r>
            <a:r>
              <a:rPr sz="2150" dirty="0"/>
              <a:t> </a:t>
            </a:r>
            <a:r>
              <a:rPr sz="2150" dirty="0" err="1"/>
              <a:t>aos</a:t>
            </a:r>
            <a:r>
              <a:rPr sz="2150" dirty="0"/>
              <a:t> </a:t>
            </a:r>
          </a:p>
          <a:p>
            <a:pPr>
              <a:buClr>
                <a:srgbClr val="FFFFFF"/>
              </a:buClr>
              <a:buFont typeface="Berlin Sans FB"/>
              <a:defRPr sz="4300" cap="all">
                <a:solidFill>
                  <a:srgbClr val="ECF0F1"/>
                </a:solidFill>
                <a:uFill>
                  <a:solidFill>
                    <a:srgbClr val="ECF0F1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pPr>
            <a:r>
              <a:rPr sz="2150" dirty="0" err="1"/>
              <a:t>Mandamentos</a:t>
            </a:r>
            <a:endParaRPr sz="2150" dirty="0"/>
          </a:p>
        </p:txBody>
      </p:sp>
      <p:sp>
        <p:nvSpPr>
          <p:cNvPr id="330" name="Shape 330">
            <a:extLst>
              <a:ext uri="{FF2B5EF4-FFF2-40B4-BE49-F238E27FC236}">
                <a16:creationId xmlns:a16="http://schemas.microsoft.com/office/drawing/2014/main" id="{F9379073-66BE-E4B0-E946-C07BF68A7E7A}"/>
              </a:ext>
            </a:extLst>
          </p:cNvPr>
          <p:cNvSpPr/>
          <p:nvPr/>
        </p:nvSpPr>
        <p:spPr>
          <a:xfrm>
            <a:off x="6467248" y="5913211"/>
            <a:ext cx="1379095" cy="382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914400">
              <a:buClr>
                <a:srgbClr val="FFFFFF"/>
              </a:buClr>
              <a:buFont typeface="Berlin Sans FB"/>
              <a:defRPr sz="4300" cap="all">
                <a:solidFill>
                  <a:srgbClr val="ECF0F1"/>
                </a:solidFill>
                <a:uFill>
                  <a:solidFill>
                    <a:srgbClr val="ECF0F1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lvl1pPr>
          </a:lstStyle>
          <a:p>
            <a:r>
              <a:rPr sz="2150"/>
              <a:t>Salvação</a:t>
            </a:r>
          </a:p>
        </p:txBody>
      </p:sp>
      <p:sp>
        <p:nvSpPr>
          <p:cNvPr id="331" name="Shape 331">
            <a:extLst>
              <a:ext uri="{FF2B5EF4-FFF2-40B4-BE49-F238E27FC236}">
                <a16:creationId xmlns:a16="http://schemas.microsoft.com/office/drawing/2014/main" id="{C4D58643-AFB7-6B3C-170B-E703C8060C83}"/>
              </a:ext>
            </a:extLst>
          </p:cNvPr>
          <p:cNvSpPr/>
          <p:nvPr/>
        </p:nvSpPr>
        <p:spPr>
          <a:xfrm>
            <a:off x="3725876" y="5127679"/>
            <a:ext cx="2250103" cy="382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r" defTabSz="914400">
              <a:buClr>
                <a:srgbClr val="FFFFFF"/>
              </a:buClr>
              <a:buFont typeface="Berlin Sans FB"/>
              <a:defRPr sz="4300" cap="all">
                <a:solidFill>
                  <a:srgbClr val="ECF0F1"/>
                </a:solidFill>
                <a:uFill>
                  <a:solidFill>
                    <a:srgbClr val="ECF0F1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lvl1pPr>
          </a:lstStyle>
          <a:p>
            <a:r>
              <a:rPr sz="2150" dirty="0" err="1"/>
              <a:t>Juízo</a:t>
            </a:r>
            <a:r>
              <a:rPr sz="2150" dirty="0"/>
              <a:t> </a:t>
            </a:r>
            <a:r>
              <a:rPr sz="2150" dirty="0" err="1"/>
              <a:t>Executivo</a:t>
            </a:r>
            <a:endParaRPr sz="2150" dirty="0"/>
          </a:p>
        </p:txBody>
      </p:sp>
      <p:sp>
        <p:nvSpPr>
          <p:cNvPr id="332" name="Shape 332">
            <a:extLst>
              <a:ext uri="{FF2B5EF4-FFF2-40B4-BE49-F238E27FC236}">
                <a16:creationId xmlns:a16="http://schemas.microsoft.com/office/drawing/2014/main" id="{B0D70F09-AADD-A448-3CFC-9C38B3A3B496}"/>
              </a:ext>
            </a:extLst>
          </p:cNvPr>
          <p:cNvSpPr/>
          <p:nvPr/>
        </p:nvSpPr>
        <p:spPr>
          <a:xfrm>
            <a:off x="3750239" y="1875612"/>
            <a:ext cx="1745671" cy="713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>
              <a:buClr>
                <a:srgbClr val="FFFFFF"/>
              </a:buClr>
              <a:buFont typeface="Berlin Sans FB"/>
              <a:defRPr sz="4300" cap="all">
                <a:solidFill>
                  <a:srgbClr val="ECF0F1"/>
                </a:solidFill>
                <a:uFill>
                  <a:solidFill>
                    <a:srgbClr val="ECF0F1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pPr>
            <a:r>
              <a:rPr sz="2150" dirty="0" err="1"/>
              <a:t>Criação</a:t>
            </a:r>
            <a:r>
              <a:rPr sz="2150" dirty="0"/>
              <a:t> </a:t>
            </a:r>
          </a:p>
          <a:p>
            <a:pPr>
              <a:buClr>
                <a:srgbClr val="FFFFFF"/>
              </a:buClr>
              <a:buFont typeface="Berlin Sans FB"/>
              <a:defRPr sz="4300" cap="all">
                <a:solidFill>
                  <a:srgbClr val="ECF0F1"/>
                </a:solidFill>
                <a:uFill>
                  <a:solidFill>
                    <a:srgbClr val="ECF0F1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pPr>
            <a:r>
              <a:rPr sz="2150" dirty="0"/>
              <a:t>e Adoração</a:t>
            </a:r>
          </a:p>
        </p:txBody>
      </p:sp>
      <p:sp>
        <p:nvSpPr>
          <p:cNvPr id="333" name="Shape 333">
            <a:extLst>
              <a:ext uri="{FF2B5EF4-FFF2-40B4-BE49-F238E27FC236}">
                <a16:creationId xmlns:a16="http://schemas.microsoft.com/office/drawing/2014/main" id="{BBBF16E8-A334-48D4-EE6F-10313486B851}"/>
              </a:ext>
            </a:extLst>
          </p:cNvPr>
          <p:cNvSpPr/>
          <p:nvPr/>
        </p:nvSpPr>
        <p:spPr>
          <a:xfrm>
            <a:off x="372611" y="189479"/>
            <a:ext cx="3975200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5400" tIns="25400" rIns="25400" bIns="25400" anchor="ctr">
            <a:spAutoFit/>
          </a:bodyPr>
          <a:lstStyle>
            <a:lvl1pPr defTabSz="914400">
              <a:buClr>
                <a:srgbClr val="FFFFFF"/>
              </a:buClr>
              <a:buFont typeface="Berlin Sans FB"/>
              <a:defRPr sz="7200" cap="all">
                <a:solidFill>
                  <a:srgbClr val="ECF0F1"/>
                </a:solidFill>
                <a:uFill>
                  <a:solidFill>
                    <a:srgbClr val="ECF0F1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lvl1pPr>
          </a:lstStyle>
          <a:p>
            <a:r>
              <a:rPr sz="3600"/>
              <a:t>Apocalipse 14	</a:t>
            </a:r>
          </a:p>
        </p:txBody>
      </p:sp>
      <p:sp>
        <p:nvSpPr>
          <p:cNvPr id="334" name="Shape 334">
            <a:extLst>
              <a:ext uri="{FF2B5EF4-FFF2-40B4-BE49-F238E27FC236}">
                <a16:creationId xmlns:a16="http://schemas.microsoft.com/office/drawing/2014/main" id="{76F7EBEA-88DD-9B06-86C2-629DEFF9AB4E}"/>
              </a:ext>
            </a:extLst>
          </p:cNvPr>
          <p:cNvSpPr/>
          <p:nvPr/>
        </p:nvSpPr>
        <p:spPr>
          <a:xfrm>
            <a:off x="8449433" y="189479"/>
            <a:ext cx="2821285" cy="6052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defTabSz="914400">
              <a:buClr>
                <a:srgbClr val="FFFFFF"/>
              </a:buClr>
              <a:buFont typeface="Berlin Sans FB"/>
              <a:defRPr sz="7200" cap="all">
                <a:solidFill>
                  <a:srgbClr val="ECF0F1"/>
                </a:solidFill>
                <a:uFill>
                  <a:solidFill>
                    <a:srgbClr val="ECF0F1"/>
                  </a:solidFill>
                </a:uFill>
                <a:latin typeface="Lato Heavy"/>
                <a:ea typeface="Lato Heavy"/>
                <a:cs typeface="Lato Heavy"/>
                <a:sym typeface="Lato Heavy"/>
              </a:defRPr>
            </a:lvl1pPr>
          </a:lstStyle>
          <a:p>
            <a:r>
              <a:rPr sz="3600"/>
              <a:t>Malaquias	</a:t>
            </a:r>
          </a:p>
        </p:txBody>
      </p:sp>
      <p:sp>
        <p:nvSpPr>
          <p:cNvPr id="335" name="Shape 335">
            <a:extLst>
              <a:ext uri="{FF2B5EF4-FFF2-40B4-BE49-F238E27FC236}">
                <a16:creationId xmlns:a16="http://schemas.microsoft.com/office/drawing/2014/main" id="{F274FC85-0DE8-3F12-8218-BCEE131494C1}"/>
              </a:ext>
            </a:extLst>
          </p:cNvPr>
          <p:cNvSpPr/>
          <p:nvPr/>
        </p:nvSpPr>
        <p:spPr>
          <a:xfrm>
            <a:off x="1261188" y="3466401"/>
            <a:ext cx="1264770" cy="46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914400">
              <a:buClr>
                <a:srgbClr val="FFFB00"/>
              </a:buClr>
              <a:buFont typeface="Berlin Sans FB"/>
              <a:defRPr sz="4300">
                <a:solidFill>
                  <a:srgbClr val="F9C82D"/>
                </a:solidFill>
                <a:uFill>
                  <a:solidFill>
                    <a:srgbClr val="F9C82D"/>
                  </a:solidFill>
                </a:uFill>
                <a:latin typeface="Lato Black"/>
                <a:ea typeface="Lato Black"/>
                <a:cs typeface="Lato Black"/>
                <a:sym typeface="Lato Black"/>
              </a:defRPr>
            </a:lvl1pPr>
          </a:lstStyle>
          <a:p>
            <a:r>
              <a:rPr sz="2700" dirty="0"/>
              <a:t>Ap 14:4</a:t>
            </a:r>
          </a:p>
        </p:txBody>
      </p:sp>
      <p:sp>
        <p:nvSpPr>
          <p:cNvPr id="336" name="Shape 336">
            <a:extLst>
              <a:ext uri="{FF2B5EF4-FFF2-40B4-BE49-F238E27FC236}">
                <a16:creationId xmlns:a16="http://schemas.microsoft.com/office/drawing/2014/main" id="{E8F0A5AD-7B4B-274C-93D5-A20521885846}"/>
              </a:ext>
            </a:extLst>
          </p:cNvPr>
          <p:cNvSpPr/>
          <p:nvPr/>
        </p:nvSpPr>
        <p:spPr>
          <a:xfrm>
            <a:off x="9577258" y="3513038"/>
            <a:ext cx="1242328" cy="46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914400">
              <a:buClr>
                <a:srgbClr val="FFFB00"/>
              </a:buClr>
              <a:buFont typeface="Berlin Sans FB"/>
              <a:defRPr sz="4300">
                <a:solidFill>
                  <a:srgbClr val="F9C82D"/>
                </a:solidFill>
                <a:uFill>
                  <a:solidFill>
                    <a:srgbClr val="F9C82D"/>
                  </a:solidFill>
                </a:uFill>
                <a:latin typeface="Lato Black"/>
                <a:ea typeface="Lato Black"/>
                <a:cs typeface="Lato Black"/>
                <a:sym typeface="Lato Black"/>
              </a:defRPr>
            </a:lvl1pPr>
          </a:lstStyle>
          <a:p>
            <a:r>
              <a:rPr sz="2700" dirty="0" err="1"/>
              <a:t>Ml</a:t>
            </a:r>
            <a:r>
              <a:rPr sz="2700" dirty="0"/>
              <a:t> 2:11</a:t>
            </a:r>
          </a:p>
        </p:txBody>
      </p:sp>
      <p:sp>
        <p:nvSpPr>
          <p:cNvPr id="337" name="Shape 337">
            <a:extLst>
              <a:ext uri="{FF2B5EF4-FFF2-40B4-BE49-F238E27FC236}">
                <a16:creationId xmlns:a16="http://schemas.microsoft.com/office/drawing/2014/main" id="{8DF1A82D-8DA4-455D-7835-D26079CB8C24}"/>
              </a:ext>
            </a:extLst>
          </p:cNvPr>
          <p:cNvSpPr/>
          <p:nvPr/>
        </p:nvSpPr>
        <p:spPr>
          <a:xfrm>
            <a:off x="1073589" y="1172664"/>
            <a:ext cx="1992533" cy="46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914400">
              <a:buClr>
                <a:srgbClr val="FFFB00"/>
              </a:buClr>
              <a:buFont typeface="Berlin Sans FB"/>
              <a:defRPr sz="4300">
                <a:solidFill>
                  <a:srgbClr val="F9C82D"/>
                </a:solidFill>
                <a:uFill>
                  <a:solidFill>
                    <a:srgbClr val="F9C82D"/>
                  </a:solidFill>
                </a:uFill>
                <a:latin typeface="Lato Black"/>
                <a:ea typeface="Lato Black"/>
                <a:cs typeface="Lato Black"/>
                <a:sym typeface="Lato Black"/>
              </a:defRPr>
            </a:lvl1pPr>
          </a:lstStyle>
          <a:p>
            <a:r>
              <a:rPr sz="2700" dirty="0"/>
              <a:t>Ap 14:6, 8, 9</a:t>
            </a:r>
          </a:p>
        </p:txBody>
      </p:sp>
      <p:sp>
        <p:nvSpPr>
          <p:cNvPr id="338" name="Shape 338">
            <a:extLst>
              <a:ext uri="{FF2B5EF4-FFF2-40B4-BE49-F238E27FC236}">
                <a16:creationId xmlns:a16="http://schemas.microsoft.com/office/drawing/2014/main" id="{88C1FCF5-0CD0-D0C3-F184-85C048734A7F}"/>
              </a:ext>
            </a:extLst>
          </p:cNvPr>
          <p:cNvSpPr/>
          <p:nvPr/>
        </p:nvSpPr>
        <p:spPr>
          <a:xfrm>
            <a:off x="9744623" y="1216332"/>
            <a:ext cx="1041952" cy="46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914400">
              <a:buClr>
                <a:srgbClr val="FFFB00"/>
              </a:buClr>
              <a:buFont typeface="Berlin Sans FB"/>
              <a:defRPr sz="4300">
                <a:solidFill>
                  <a:srgbClr val="F9C82D"/>
                </a:solidFill>
                <a:uFill>
                  <a:solidFill>
                    <a:srgbClr val="F9C82D"/>
                  </a:solidFill>
                </a:uFill>
                <a:latin typeface="Lato Black"/>
                <a:ea typeface="Lato Black"/>
                <a:cs typeface="Lato Black"/>
                <a:sym typeface="Lato Black"/>
              </a:defRPr>
            </a:lvl1pPr>
          </a:lstStyle>
          <a:p>
            <a:r>
              <a:rPr sz="2700" dirty="0" err="1"/>
              <a:t>Ml</a:t>
            </a:r>
            <a:r>
              <a:rPr sz="2700" dirty="0"/>
              <a:t> 3:1</a:t>
            </a:r>
          </a:p>
        </p:txBody>
      </p:sp>
      <p:sp>
        <p:nvSpPr>
          <p:cNvPr id="339" name="Shape 339">
            <a:extLst>
              <a:ext uri="{FF2B5EF4-FFF2-40B4-BE49-F238E27FC236}">
                <a16:creationId xmlns:a16="http://schemas.microsoft.com/office/drawing/2014/main" id="{AD215CBE-A64D-1F15-6AA0-4513EF0377C2}"/>
              </a:ext>
            </a:extLst>
          </p:cNvPr>
          <p:cNvSpPr/>
          <p:nvPr/>
        </p:nvSpPr>
        <p:spPr>
          <a:xfrm>
            <a:off x="1186467" y="4313949"/>
            <a:ext cx="1628651" cy="46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914400">
              <a:buClr>
                <a:srgbClr val="FFFB00"/>
              </a:buClr>
              <a:buFont typeface="Berlin Sans FB"/>
              <a:defRPr sz="4300">
                <a:solidFill>
                  <a:srgbClr val="F9C82D"/>
                </a:solidFill>
                <a:uFill>
                  <a:solidFill>
                    <a:srgbClr val="F9C82D"/>
                  </a:solidFill>
                </a:uFill>
                <a:latin typeface="Lato Black"/>
                <a:ea typeface="Lato Black"/>
                <a:cs typeface="Lato Black"/>
                <a:sym typeface="Lato Black"/>
              </a:defRPr>
            </a:lvl1pPr>
          </a:lstStyle>
          <a:p>
            <a:r>
              <a:rPr sz="2700" dirty="0"/>
              <a:t>Ap 14:6, 7</a:t>
            </a:r>
          </a:p>
        </p:txBody>
      </p:sp>
      <p:sp>
        <p:nvSpPr>
          <p:cNvPr id="340" name="Shape 340">
            <a:extLst>
              <a:ext uri="{FF2B5EF4-FFF2-40B4-BE49-F238E27FC236}">
                <a16:creationId xmlns:a16="http://schemas.microsoft.com/office/drawing/2014/main" id="{93E5C7A7-271A-0E0C-0A1B-F6361D252250}"/>
              </a:ext>
            </a:extLst>
          </p:cNvPr>
          <p:cNvSpPr/>
          <p:nvPr/>
        </p:nvSpPr>
        <p:spPr>
          <a:xfrm>
            <a:off x="8846225" y="4315998"/>
            <a:ext cx="2534348" cy="46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914400">
              <a:buClr>
                <a:srgbClr val="FFFB00"/>
              </a:buClr>
              <a:buFont typeface="Berlin Sans FB"/>
              <a:defRPr sz="4300">
                <a:solidFill>
                  <a:srgbClr val="F9C82D"/>
                </a:solidFill>
                <a:uFill>
                  <a:solidFill>
                    <a:srgbClr val="F9C82D"/>
                  </a:solidFill>
                </a:uFill>
                <a:latin typeface="Lato Black"/>
                <a:ea typeface="Lato Black"/>
                <a:cs typeface="Lato Black"/>
                <a:sym typeface="Lato Black"/>
              </a:defRPr>
            </a:lvl1pPr>
          </a:lstStyle>
          <a:p>
            <a:r>
              <a:rPr sz="2700"/>
              <a:t>Ml 3:1, 3, 16, 18</a:t>
            </a:r>
          </a:p>
        </p:txBody>
      </p:sp>
      <p:sp>
        <p:nvSpPr>
          <p:cNvPr id="341" name="Shape 341">
            <a:extLst>
              <a:ext uri="{FF2B5EF4-FFF2-40B4-BE49-F238E27FC236}">
                <a16:creationId xmlns:a16="http://schemas.microsoft.com/office/drawing/2014/main" id="{1337AF88-A3C3-614A-6B22-52898CE71596}"/>
              </a:ext>
            </a:extLst>
          </p:cNvPr>
          <p:cNvSpPr/>
          <p:nvPr/>
        </p:nvSpPr>
        <p:spPr>
          <a:xfrm>
            <a:off x="1168032" y="2750290"/>
            <a:ext cx="1465145" cy="46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914400">
              <a:buClr>
                <a:srgbClr val="FFFB00"/>
              </a:buClr>
              <a:buFont typeface="Berlin Sans FB"/>
              <a:defRPr sz="4300">
                <a:solidFill>
                  <a:srgbClr val="F9C82D"/>
                </a:solidFill>
                <a:uFill>
                  <a:solidFill>
                    <a:srgbClr val="F9C82D"/>
                  </a:solidFill>
                </a:uFill>
                <a:latin typeface="Lato Black"/>
                <a:ea typeface="Lato Black"/>
                <a:cs typeface="Lato Black"/>
                <a:sym typeface="Lato Black"/>
              </a:defRPr>
            </a:lvl1pPr>
          </a:lstStyle>
          <a:p>
            <a:r>
              <a:rPr sz="2700" dirty="0"/>
              <a:t>Ap 14:12</a:t>
            </a:r>
          </a:p>
        </p:txBody>
      </p:sp>
      <p:sp>
        <p:nvSpPr>
          <p:cNvPr id="342" name="Shape 342">
            <a:extLst>
              <a:ext uri="{FF2B5EF4-FFF2-40B4-BE49-F238E27FC236}">
                <a16:creationId xmlns:a16="http://schemas.microsoft.com/office/drawing/2014/main" id="{03C0DB10-6BBA-E670-1BA6-1CBDDED2E214}"/>
              </a:ext>
            </a:extLst>
          </p:cNvPr>
          <p:cNvSpPr/>
          <p:nvPr/>
        </p:nvSpPr>
        <p:spPr>
          <a:xfrm>
            <a:off x="9662993" y="2750290"/>
            <a:ext cx="1041952" cy="46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914400">
              <a:buClr>
                <a:srgbClr val="FFFB00"/>
              </a:buClr>
              <a:buFont typeface="Berlin Sans FB"/>
              <a:defRPr sz="4300">
                <a:solidFill>
                  <a:srgbClr val="F9C82D"/>
                </a:solidFill>
                <a:uFill>
                  <a:solidFill>
                    <a:srgbClr val="F9C82D"/>
                  </a:solidFill>
                </a:uFill>
                <a:latin typeface="Lato Black"/>
                <a:ea typeface="Lato Black"/>
                <a:cs typeface="Lato Black"/>
                <a:sym typeface="Lato Black"/>
              </a:defRPr>
            </a:lvl1pPr>
          </a:lstStyle>
          <a:p>
            <a:r>
              <a:rPr sz="2700" dirty="0" err="1"/>
              <a:t>Ml</a:t>
            </a:r>
            <a:r>
              <a:rPr sz="2700" dirty="0"/>
              <a:t> 4:4</a:t>
            </a:r>
          </a:p>
        </p:txBody>
      </p:sp>
      <p:sp>
        <p:nvSpPr>
          <p:cNvPr id="343" name="Shape 343">
            <a:extLst>
              <a:ext uri="{FF2B5EF4-FFF2-40B4-BE49-F238E27FC236}">
                <a16:creationId xmlns:a16="http://schemas.microsoft.com/office/drawing/2014/main" id="{A65A5A63-195A-7F7C-9394-A25E85AD7FE0}"/>
              </a:ext>
            </a:extLst>
          </p:cNvPr>
          <p:cNvSpPr/>
          <p:nvPr/>
        </p:nvSpPr>
        <p:spPr>
          <a:xfrm>
            <a:off x="1005756" y="5870892"/>
            <a:ext cx="1995739" cy="46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914400">
              <a:buClr>
                <a:srgbClr val="FFFB00"/>
              </a:buClr>
              <a:buFont typeface="Berlin Sans FB"/>
              <a:defRPr sz="4300">
                <a:solidFill>
                  <a:srgbClr val="F9C82D"/>
                </a:solidFill>
                <a:uFill>
                  <a:solidFill>
                    <a:srgbClr val="F9C82D"/>
                  </a:solidFill>
                </a:uFill>
                <a:latin typeface="Lato Black"/>
                <a:ea typeface="Lato Black"/>
                <a:cs typeface="Lato Black"/>
                <a:sym typeface="Lato Black"/>
              </a:defRPr>
            </a:lvl1pPr>
          </a:lstStyle>
          <a:p>
            <a:r>
              <a:rPr sz="2700" dirty="0"/>
              <a:t>Ap 14:14-16</a:t>
            </a:r>
          </a:p>
        </p:txBody>
      </p:sp>
      <p:sp>
        <p:nvSpPr>
          <p:cNvPr id="344" name="Shape 344">
            <a:extLst>
              <a:ext uri="{FF2B5EF4-FFF2-40B4-BE49-F238E27FC236}">
                <a16:creationId xmlns:a16="http://schemas.microsoft.com/office/drawing/2014/main" id="{6E1C3F9A-6753-A62E-979A-28E6EC56E1D8}"/>
              </a:ext>
            </a:extLst>
          </p:cNvPr>
          <p:cNvSpPr/>
          <p:nvPr/>
        </p:nvSpPr>
        <p:spPr>
          <a:xfrm>
            <a:off x="9044234" y="5870891"/>
            <a:ext cx="2273058" cy="46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914400">
              <a:buClr>
                <a:srgbClr val="FFFB00"/>
              </a:buClr>
              <a:buFont typeface="Berlin Sans FB"/>
              <a:defRPr sz="4300">
                <a:solidFill>
                  <a:srgbClr val="F9C82D"/>
                </a:solidFill>
                <a:uFill>
                  <a:solidFill>
                    <a:srgbClr val="F9C82D"/>
                  </a:solidFill>
                </a:uFill>
                <a:latin typeface="Lato Black"/>
                <a:ea typeface="Lato Black"/>
                <a:cs typeface="Lato Black"/>
                <a:sym typeface="Lato Black"/>
              </a:defRPr>
            </a:lvl1pPr>
          </a:lstStyle>
          <a:p>
            <a:r>
              <a:rPr sz="2700" dirty="0" err="1"/>
              <a:t>Ml</a:t>
            </a:r>
            <a:r>
              <a:rPr sz="2700" dirty="0"/>
              <a:t> 4:2, 3; 3:17</a:t>
            </a:r>
          </a:p>
        </p:txBody>
      </p:sp>
      <p:sp>
        <p:nvSpPr>
          <p:cNvPr id="345" name="Shape 345">
            <a:extLst>
              <a:ext uri="{FF2B5EF4-FFF2-40B4-BE49-F238E27FC236}">
                <a16:creationId xmlns:a16="http://schemas.microsoft.com/office/drawing/2014/main" id="{A18A9DD2-10C3-0BFD-CEEF-A2C0EA19B6B5}"/>
              </a:ext>
            </a:extLst>
          </p:cNvPr>
          <p:cNvSpPr/>
          <p:nvPr/>
        </p:nvSpPr>
        <p:spPr>
          <a:xfrm>
            <a:off x="547670" y="5090625"/>
            <a:ext cx="2903039" cy="46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914400">
              <a:buClr>
                <a:srgbClr val="FFFB00"/>
              </a:buClr>
              <a:buFont typeface="Berlin Sans FB"/>
              <a:defRPr sz="4300">
                <a:solidFill>
                  <a:srgbClr val="F9C82D"/>
                </a:solidFill>
                <a:uFill>
                  <a:solidFill>
                    <a:srgbClr val="F9C82D"/>
                  </a:solidFill>
                </a:uFill>
                <a:latin typeface="Lato Black"/>
                <a:ea typeface="Lato Black"/>
                <a:cs typeface="Lato Black"/>
                <a:sym typeface="Lato Black"/>
              </a:defRPr>
            </a:lvl1pPr>
          </a:lstStyle>
          <a:p>
            <a:r>
              <a:rPr sz="2700" dirty="0"/>
              <a:t>Ap 14:8-10;</a:t>
            </a:r>
            <a:r>
              <a:rPr lang="en-US" sz="2700" dirty="0"/>
              <a:t> </a:t>
            </a:r>
            <a:r>
              <a:rPr sz="2700" dirty="0"/>
              <a:t>17-20</a:t>
            </a:r>
          </a:p>
        </p:txBody>
      </p:sp>
      <p:sp>
        <p:nvSpPr>
          <p:cNvPr id="346" name="Shape 346">
            <a:extLst>
              <a:ext uri="{FF2B5EF4-FFF2-40B4-BE49-F238E27FC236}">
                <a16:creationId xmlns:a16="http://schemas.microsoft.com/office/drawing/2014/main" id="{50393AC8-1648-CE2E-8E2A-B7D8063FE659}"/>
              </a:ext>
            </a:extLst>
          </p:cNvPr>
          <p:cNvSpPr/>
          <p:nvPr/>
        </p:nvSpPr>
        <p:spPr>
          <a:xfrm>
            <a:off x="9430519" y="5098562"/>
            <a:ext cx="1372171" cy="46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914400">
              <a:buClr>
                <a:srgbClr val="FFFB00"/>
              </a:buClr>
              <a:buFont typeface="Berlin Sans FB"/>
              <a:defRPr sz="4300">
                <a:solidFill>
                  <a:srgbClr val="F9C82D"/>
                </a:solidFill>
                <a:uFill>
                  <a:solidFill>
                    <a:srgbClr val="F9C82D"/>
                  </a:solidFill>
                </a:uFill>
                <a:latin typeface="Lato Black"/>
                <a:ea typeface="Lato Black"/>
                <a:cs typeface="Lato Black"/>
                <a:sym typeface="Lato Black"/>
              </a:defRPr>
            </a:lvl1pPr>
          </a:lstStyle>
          <a:p>
            <a:r>
              <a:rPr sz="2700" dirty="0" err="1"/>
              <a:t>Ml</a:t>
            </a:r>
            <a:r>
              <a:rPr sz="2700" dirty="0"/>
              <a:t> 4:1-3</a:t>
            </a:r>
          </a:p>
        </p:txBody>
      </p:sp>
      <p:sp>
        <p:nvSpPr>
          <p:cNvPr id="347" name="Shape 347">
            <a:extLst>
              <a:ext uri="{FF2B5EF4-FFF2-40B4-BE49-F238E27FC236}">
                <a16:creationId xmlns:a16="http://schemas.microsoft.com/office/drawing/2014/main" id="{58228906-A2BF-4FDD-C956-C1134ACDE41D}"/>
              </a:ext>
            </a:extLst>
          </p:cNvPr>
          <p:cNvSpPr/>
          <p:nvPr/>
        </p:nvSpPr>
        <p:spPr>
          <a:xfrm>
            <a:off x="1268620" y="1984205"/>
            <a:ext cx="1264770" cy="46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914400">
              <a:buClr>
                <a:srgbClr val="FFFB00"/>
              </a:buClr>
              <a:buFont typeface="Berlin Sans FB"/>
              <a:defRPr sz="4300">
                <a:solidFill>
                  <a:srgbClr val="F9C82D"/>
                </a:solidFill>
                <a:uFill>
                  <a:solidFill>
                    <a:srgbClr val="F9C82D"/>
                  </a:solidFill>
                </a:uFill>
                <a:latin typeface="Lato Black"/>
                <a:ea typeface="Lato Black"/>
                <a:cs typeface="Lato Black"/>
                <a:sym typeface="Lato Black"/>
              </a:defRPr>
            </a:lvl1pPr>
          </a:lstStyle>
          <a:p>
            <a:r>
              <a:rPr sz="2700" dirty="0"/>
              <a:t>Ap 14:7</a:t>
            </a:r>
          </a:p>
        </p:txBody>
      </p:sp>
      <p:sp>
        <p:nvSpPr>
          <p:cNvPr id="348" name="Shape 348">
            <a:extLst>
              <a:ext uri="{FF2B5EF4-FFF2-40B4-BE49-F238E27FC236}">
                <a16:creationId xmlns:a16="http://schemas.microsoft.com/office/drawing/2014/main" id="{0545BD08-CDD5-6A5D-B086-EDBA6436DB34}"/>
              </a:ext>
            </a:extLst>
          </p:cNvPr>
          <p:cNvSpPr/>
          <p:nvPr/>
        </p:nvSpPr>
        <p:spPr>
          <a:xfrm>
            <a:off x="8846225" y="1993157"/>
            <a:ext cx="2872581" cy="46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>
              <a:buClr>
                <a:srgbClr val="FFFB00"/>
              </a:buClr>
              <a:buFont typeface="Berlin Sans FB"/>
              <a:defRPr sz="4300">
                <a:solidFill>
                  <a:srgbClr val="F9C82D"/>
                </a:solidFill>
                <a:uFill>
                  <a:solidFill>
                    <a:srgbClr val="F9C82D"/>
                  </a:solidFill>
                </a:uFill>
                <a:latin typeface="Lato Black"/>
                <a:ea typeface="Lato Black"/>
                <a:cs typeface="Lato Black"/>
                <a:sym typeface="Lato Black"/>
              </a:defRPr>
            </a:pPr>
            <a:r>
              <a:rPr sz="2700" dirty="0" err="1"/>
              <a:t>Ml</a:t>
            </a:r>
            <a:r>
              <a:rPr sz="2700" dirty="0"/>
              <a:t> 2:10 (</a:t>
            </a:r>
            <a:r>
              <a:rPr sz="2700" dirty="0" err="1"/>
              <a:t>Êx</a:t>
            </a:r>
            <a:r>
              <a:rPr sz="2700" dirty="0"/>
              <a:t> 20:11)</a:t>
            </a:r>
          </a:p>
        </p:txBody>
      </p:sp>
    </p:spTree>
    <p:extLst>
      <p:ext uri="{BB962C8B-B14F-4D97-AF65-F5344CB8AC3E}">
        <p14:creationId xmlns:p14="http://schemas.microsoft.com/office/powerpoint/2010/main" val="404051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5AF62-004D-1D77-248D-14EC9D1B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551" y="310478"/>
            <a:ext cx="9404723" cy="1400530"/>
          </a:xfrm>
        </p:spPr>
        <p:txBody>
          <a:bodyPr/>
          <a:lstStyle/>
          <a:p>
            <a:r>
              <a:rPr lang="en-US" b="1" dirty="0"/>
              <a:t>Qual a </a:t>
            </a:r>
            <a:r>
              <a:rPr lang="en-US" b="1" dirty="0" err="1"/>
              <a:t>mensagem</a:t>
            </a:r>
            <a:r>
              <a:rPr lang="en-US" b="1" dirty="0"/>
              <a:t> do Elias Profético?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5303-2CA7-D9A5-78DB-4277E33FB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641" y="2471559"/>
            <a:ext cx="8946541" cy="419548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BR" sz="2400" dirty="0"/>
              <a:t>E seguiu-os o terceiro anjo, dizendo em alta voz: Se algum homem </a:t>
            </a:r>
            <a:r>
              <a:rPr lang="en-BR" sz="2400" b="1" dirty="0"/>
              <a:t>adorar</a:t>
            </a:r>
            <a:r>
              <a:rPr lang="en-BR" sz="2400" dirty="0"/>
              <a:t> a besta, e a sua imagem, e receber </a:t>
            </a:r>
            <a:r>
              <a:rPr lang="en-BR" sz="2400" i="1" dirty="0"/>
              <a:t>sua</a:t>
            </a:r>
            <a:r>
              <a:rPr lang="en-BR" sz="2400" dirty="0"/>
              <a:t> marca em sua testa, ou na sua mão, este beberá do vinho da </a:t>
            </a:r>
            <a:r>
              <a:rPr lang="en-BR" sz="2400" b="1" dirty="0"/>
              <a:t>ira de Deus</a:t>
            </a:r>
            <a:r>
              <a:rPr lang="en-BR" sz="2400" dirty="0"/>
              <a:t>, que é derramado sem mistura no cálice da sua indignação; e ele será </a:t>
            </a:r>
            <a:r>
              <a:rPr lang="en-BR" sz="2400" b="1" dirty="0"/>
              <a:t>atormentado</a:t>
            </a:r>
            <a:r>
              <a:rPr lang="en-BR" sz="2400" dirty="0"/>
              <a:t> com fogo e enxofre na presença dos santos anjos, e na presença do Cordeiro. E a fumaça do seu tormento sobe para sempre e sempre; e eles não têm descanso de dia nem de noite, os que adoram a besta e a sua imagem, e quem quer que receba a </a:t>
            </a:r>
            <a:r>
              <a:rPr lang="en-BR" sz="2400" b="1" dirty="0"/>
              <a:t>marca</a:t>
            </a:r>
            <a:r>
              <a:rPr lang="en-BR" sz="2400" dirty="0"/>
              <a:t> de seu nome. Aqui está a paciência dos santos; aqui </a:t>
            </a:r>
            <a:r>
              <a:rPr lang="en-BR" sz="2400" i="1" dirty="0"/>
              <a:t>estão</a:t>
            </a:r>
            <a:r>
              <a:rPr lang="en-BR" sz="2400" dirty="0"/>
              <a:t> aqueles que </a:t>
            </a:r>
            <a:r>
              <a:rPr lang="en-BR" sz="2400" b="1" dirty="0"/>
              <a:t>guardam os mandamentos</a:t>
            </a:r>
            <a:r>
              <a:rPr lang="en-BR" sz="2400" dirty="0"/>
              <a:t> de Deus e a </a:t>
            </a:r>
            <a:r>
              <a:rPr lang="en-BR" sz="2400" b="1" dirty="0"/>
              <a:t>fé de Jesus. Ap 14:9-12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4517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AFA71-4541-BD5C-C0EC-84D56EE35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Quem o </a:t>
            </a:r>
            <a:r>
              <a:rPr lang="en-US" b="1" dirty="0" err="1"/>
              <a:t>terceiro</a:t>
            </a:r>
            <a:r>
              <a:rPr lang="en-US" b="1" dirty="0"/>
              <a:t> </a:t>
            </a:r>
            <a:r>
              <a:rPr lang="en-US" b="1" dirty="0" err="1"/>
              <a:t>anjo</a:t>
            </a:r>
            <a:r>
              <a:rPr lang="en-US" b="1" dirty="0"/>
              <a:t> </a:t>
            </a:r>
            <a:r>
              <a:rPr lang="en-US" b="1" dirty="0" err="1"/>
              <a:t>representa</a:t>
            </a:r>
            <a:r>
              <a:rPr lang="en-US" b="1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80DC5-7245-9D88-5AC6-1CC3DC420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770" y="2052918"/>
            <a:ext cx="9404723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BR" sz="2800" dirty="0"/>
              <a:t>“Foi mostrado que o </a:t>
            </a:r>
            <a:r>
              <a:rPr lang="en-BR" sz="2800" b="1" dirty="0"/>
              <a:t>terceiro anjo</a:t>
            </a:r>
            <a:r>
              <a:rPr lang="en-BR" sz="2800" dirty="0"/>
              <a:t>, que proclama os mandamentos e a fé de Jesus, </a:t>
            </a:r>
            <a:r>
              <a:rPr lang="en-BR" sz="2800" b="1" dirty="0"/>
              <a:t>representa </a:t>
            </a:r>
            <a:r>
              <a:rPr lang="en-BR" sz="2800" b="1" dirty="0">
                <a:solidFill>
                  <a:srgbClr val="FFC000"/>
                </a:solidFill>
              </a:rPr>
              <a:t>o povo </a:t>
            </a:r>
            <a:r>
              <a:rPr lang="en-BR" sz="2800" b="1" dirty="0"/>
              <a:t>que recebe essa mensagem</a:t>
            </a:r>
            <a:r>
              <a:rPr lang="en-BR" sz="2800" dirty="0"/>
              <a:t>, e </a:t>
            </a:r>
            <a:r>
              <a:rPr lang="en-BR" sz="2800" b="1" dirty="0"/>
              <a:t>ergue a voz de advertência ao mundo </a:t>
            </a:r>
            <a:r>
              <a:rPr lang="en-BR" sz="2800" dirty="0"/>
              <a:t>para que guarde os mandamentos de Deus e a Sua lei como a menina dos olhos; e em resposta a esta advertência muitos abraçariam o sábado do Senhor” (VE, p. 87).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92002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48071-DDE0-9B3D-3987-B25FD529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b="1" dirty="0"/>
              <a:t>Quais as características do do TERCEIRO ANJO?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FB301-2AB1-6382-7E5B-C796F5F0A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BR" dirty="0"/>
              <a:t>É o mensageiro que </a:t>
            </a:r>
            <a:r>
              <a:rPr lang="en-BR" b="1" dirty="0"/>
              <a:t>sela</a:t>
            </a:r>
            <a:r>
              <a:rPr lang="en-BR" dirty="0"/>
              <a:t> (PE, p. 118). </a:t>
            </a:r>
          </a:p>
          <a:p>
            <a:r>
              <a:rPr lang="en-BR" dirty="0"/>
              <a:t>Poderoso, elevado, tem </a:t>
            </a:r>
            <a:r>
              <a:rPr lang="en-BR" b="1" dirty="0"/>
              <a:t>autoridade</a:t>
            </a:r>
            <a:r>
              <a:rPr lang="en-BR" dirty="0"/>
              <a:t> (TM, p. 444, 445). </a:t>
            </a:r>
          </a:p>
          <a:p>
            <a:r>
              <a:rPr lang="en-BR" b="1" dirty="0"/>
              <a:t>Dirige e </a:t>
            </a:r>
            <a:r>
              <a:rPr lang="en-BR" b="1" dirty="0">
                <a:solidFill>
                  <a:srgbClr val="FFC000"/>
                </a:solidFill>
              </a:rPr>
              <a:t>purifica um povo </a:t>
            </a:r>
            <a:r>
              <a:rPr lang="en-BR" dirty="0"/>
              <a:t>(TM, p. 488). </a:t>
            </a:r>
          </a:p>
          <a:p>
            <a:r>
              <a:rPr lang="en-BR" dirty="0"/>
              <a:t>Prega sua mensagem por meio de </a:t>
            </a:r>
            <a:r>
              <a:rPr lang="en-BR" b="1" dirty="0"/>
              <a:t>agentes humanos</a:t>
            </a:r>
            <a:r>
              <a:rPr lang="en-BR" b="1" u="sng" dirty="0"/>
              <a:t> fiéis </a:t>
            </a:r>
            <a:r>
              <a:rPr lang="en-BR" dirty="0"/>
              <a:t>(GC, p. 311, 312). </a:t>
            </a:r>
          </a:p>
          <a:p>
            <a:r>
              <a:rPr lang="en-BR" b="1" dirty="0"/>
              <a:t>Representa o povo </a:t>
            </a:r>
            <a:r>
              <a:rPr lang="en-BR" dirty="0"/>
              <a:t>que recebe sua mensagem (VE, p. 87).</a:t>
            </a:r>
          </a:p>
          <a:p>
            <a:r>
              <a:rPr lang="en-BR" dirty="0"/>
              <a:t> Recebe </a:t>
            </a:r>
            <a:r>
              <a:rPr lang="en-BR" b="1" dirty="0"/>
              <a:t>poder adicional</a:t>
            </a:r>
            <a:r>
              <a:rPr lang="en-BR" dirty="0"/>
              <a:t>; chuva serôdia (PE, p. 85, 86). </a:t>
            </a:r>
          </a:p>
          <a:p>
            <a:r>
              <a:rPr lang="en-BR" b="1" dirty="0"/>
              <a:t>Ilumina a Terra </a:t>
            </a:r>
            <a:r>
              <a:rPr lang="en-BR" dirty="0"/>
              <a:t>com a sua glória (ME3, p. 290). </a:t>
            </a:r>
          </a:p>
          <a:p>
            <a:r>
              <a:rPr lang="en-BR" dirty="0"/>
              <a:t>É o </a:t>
            </a:r>
            <a:r>
              <a:rPr lang="en-BR" b="1" dirty="0"/>
              <a:t>povo da profecia </a:t>
            </a:r>
            <a:r>
              <a:rPr lang="en-BR" dirty="0"/>
              <a:t>(Daniel 8:14; Apocalipse 10:10, 11).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088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4C1C-9DDE-39BB-8CC4-3C0DDA539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 </a:t>
            </a:r>
            <a:r>
              <a:rPr lang="en-US" b="1" dirty="0" err="1"/>
              <a:t>que</a:t>
            </a:r>
            <a:r>
              <a:rPr lang="en-US" b="1" dirty="0"/>
              <a:t> </a:t>
            </a:r>
            <a:r>
              <a:rPr lang="en-US" b="1" dirty="0" err="1"/>
              <a:t>consiste</a:t>
            </a:r>
            <a:r>
              <a:rPr lang="en-US" b="1" dirty="0"/>
              <a:t> a </a:t>
            </a:r>
            <a:r>
              <a:rPr lang="en-US" b="1" dirty="0" err="1"/>
              <a:t>Mesagem</a:t>
            </a:r>
            <a:r>
              <a:rPr lang="en-US" b="1" dirty="0"/>
              <a:t> do Terceiro Anjo?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CB2F1-2612-2AA6-C1AA-6C2D55F8E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2063934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BR" sz="2400" dirty="0"/>
              <a:t>A Luz da mensagem do terceiro anjo é uma corrente com vários elos. Ex.: </a:t>
            </a:r>
          </a:p>
          <a:p>
            <a:r>
              <a:rPr lang="en-BR" sz="2400" b="1" dirty="0"/>
              <a:t>1844</a:t>
            </a:r>
            <a:r>
              <a:rPr lang="en-BR" sz="2400" dirty="0"/>
              <a:t>: princípio da luz do </a:t>
            </a:r>
            <a:r>
              <a:rPr lang="en-BR" sz="2400" b="1" u="sng" dirty="0"/>
              <a:t>santuário</a:t>
            </a:r>
            <a:r>
              <a:rPr lang="en-BR" sz="2400" dirty="0"/>
              <a:t> – O Grande Conflito, p. 433; Primeiros Escritos, p. 254. </a:t>
            </a:r>
          </a:p>
          <a:p>
            <a:r>
              <a:rPr lang="en-BR" sz="2400" b="1" dirty="0"/>
              <a:t>1846</a:t>
            </a:r>
            <a:r>
              <a:rPr lang="en-BR" sz="2400" dirty="0"/>
              <a:t>: princípio da luz do </a:t>
            </a:r>
            <a:r>
              <a:rPr lang="en-BR" sz="2400" b="1" u="sng" dirty="0"/>
              <a:t>sábado</a:t>
            </a:r>
            <a:r>
              <a:rPr lang="en-BR" sz="2400" dirty="0"/>
              <a:t> – Testemunhos para a Igreja v. 1, p. 93; Evangelismo, p. 184. </a:t>
            </a:r>
          </a:p>
          <a:p>
            <a:r>
              <a:rPr lang="en-BR" sz="2400" b="1" dirty="0">
                <a:solidFill>
                  <a:srgbClr val="FFC000"/>
                </a:solidFill>
              </a:rPr>
              <a:t>1863</a:t>
            </a:r>
            <a:r>
              <a:rPr lang="en-BR" sz="2400" dirty="0">
                <a:solidFill>
                  <a:srgbClr val="FFC000"/>
                </a:solidFill>
              </a:rPr>
              <a:t>: princípio da luz da </a:t>
            </a:r>
            <a:r>
              <a:rPr lang="en-BR" sz="2400" b="1" u="sng" dirty="0">
                <a:solidFill>
                  <a:srgbClr val="FFC000"/>
                </a:solidFill>
              </a:rPr>
              <a:t>reforma de saúde </a:t>
            </a:r>
            <a:r>
              <a:rPr lang="en-BR" sz="2400" dirty="0">
                <a:solidFill>
                  <a:srgbClr val="FFC000"/>
                </a:solidFill>
              </a:rPr>
              <a:t>– Conselhos sobre Regime Alimentar, p. 482,483. </a:t>
            </a:r>
          </a:p>
          <a:p>
            <a:r>
              <a:rPr lang="en-BR" sz="2400" b="1" dirty="0"/>
              <a:t>1888</a:t>
            </a:r>
            <a:r>
              <a:rPr lang="en-BR" sz="2400" dirty="0"/>
              <a:t>: princípio da luz da “revelação” da </a:t>
            </a:r>
            <a:r>
              <a:rPr lang="en-BR" sz="2400" b="1" u="sng" dirty="0"/>
              <a:t>justiça de Cristo </a:t>
            </a:r>
            <a:r>
              <a:rPr lang="en-BR" sz="2400" dirty="0"/>
              <a:t>– Testemunhos para Ministros, p. 91, 92.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7892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D02B-12FA-54E4-9F91-ED5F4A1B3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 </a:t>
            </a:r>
            <a:r>
              <a:rPr lang="en-US" b="1" dirty="0" err="1"/>
              <a:t>que</a:t>
            </a:r>
            <a:r>
              <a:rPr lang="en-US" b="1" dirty="0"/>
              <a:t> </a:t>
            </a:r>
            <a:r>
              <a:rPr lang="en-US" b="1" dirty="0" err="1"/>
              <a:t>é</a:t>
            </a:r>
            <a:r>
              <a:rPr lang="en-US" b="1" dirty="0"/>
              <a:t> </a:t>
            </a:r>
            <a:r>
              <a:rPr lang="en-US" b="1" dirty="0" err="1"/>
              <a:t>profetizado</a:t>
            </a:r>
            <a:r>
              <a:rPr lang="en-US" b="1" dirty="0"/>
              <a:t> </a:t>
            </a:r>
            <a:r>
              <a:rPr lang="en-US" b="1" dirty="0" err="1"/>
              <a:t>acerca</a:t>
            </a:r>
            <a:r>
              <a:rPr lang="en-US" b="1" dirty="0"/>
              <a:t> dessa </a:t>
            </a:r>
            <a:r>
              <a:rPr lang="en-US" b="1" dirty="0" err="1"/>
              <a:t>mensagem</a:t>
            </a:r>
            <a:r>
              <a:rPr lang="en-US" b="1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0E65B-387C-BD7D-5878-DD1E72F08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823" y="2063935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BR" sz="3600" dirty="0"/>
              <a:t>“Qual a mensagem a ser dada neste tempo? É a mensagem do terceiro anjo. </a:t>
            </a:r>
            <a:r>
              <a:rPr lang="en-BR" sz="3600" b="1" dirty="0"/>
              <a:t>Mas essa luz</a:t>
            </a:r>
            <a:r>
              <a:rPr lang="en-BR" sz="3600" dirty="0"/>
              <a:t>, que deve encher toda a Terra de sua glória, </a:t>
            </a:r>
            <a:r>
              <a:rPr lang="en-BR" sz="3600" b="1" dirty="0"/>
              <a:t>tem sido </a:t>
            </a:r>
            <a:r>
              <a:rPr lang="en-BR" sz="3600" b="1" u="sng" dirty="0">
                <a:solidFill>
                  <a:srgbClr val="FFC000"/>
                </a:solidFill>
              </a:rPr>
              <a:t>desprezada</a:t>
            </a:r>
            <a:r>
              <a:rPr lang="en-BR" sz="3600" dirty="0"/>
              <a:t> por alguns dos que </a:t>
            </a:r>
            <a:r>
              <a:rPr lang="en-BR" sz="3600" b="1" dirty="0"/>
              <a:t>pretendem crer </a:t>
            </a:r>
            <a:r>
              <a:rPr lang="en-BR" sz="3600" dirty="0"/>
              <a:t>na verdade presente” (TM, p. 89).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86461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7D2A1-37D9-5FE1-61F1-F407D321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Qual </a:t>
            </a:r>
            <a:r>
              <a:rPr lang="en-US" b="1" dirty="0" err="1"/>
              <a:t>é</a:t>
            </a:r>
            <a:r>
              <a:rPr lang="en-US" b="1" dirty="0"/>
              <a:t> o </a:t>
            </a:r>
            <a:r>
              <a:rPr lang="en-US" b="1" dirty="0" err="1"/>
              <a:t>Braço</a:t>
            </a:r>
            <a:r>
              <a:rPr lang="en-US" b="1" dirty="0"/>
              <a:t> </a:t>
            </a:r>
            <a:r>
              <a:rPr lang="en-US" b="1" dirty="0" err="1"/>
              <a:t>Direito</a:t>
            </a:r>
            <a:r>
              <a:rPr lang="en-US" b="1" dirty="0"/>
              <a:t> </a:t>
            </a:r>
            <a:r>
              <a:rPr lang="en-US" b="1" dirty="0" err="1"/>
              <a:t>desta</a:t>
            </a:r>
            <a:r>
              <a:rPr lang="en-US" b="1" dirty="0"/>
              <a:t> </a:t>
            </a:r>
            <a:r>
              <a:rPr lang="en-US" b="1" dirty="0" err="1"/>
              <a:t>Mensagem</a:t>
            </a:r>
            <a:r>
              <a:rPr lang="en-US" b="1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F2394-F30A-52F9-3238-426DEAA16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74952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BR" dirty="0"/>
              <a:t>“Tenho sido repetidamente instruída quanto ao fato de ter a obra médico-missionária para com a obra da terceira mensagem angélica, a mesma relação que mantêm para com o corpo o braço e a mão.” SC 101.9</a:t>
            </a:r>
            <a:br>
              <a:rPr lang="en-B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360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630E-4757-5550-A280-ECDDF862E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180A6-5E33-3A33-26F7-CE0B73F2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BR" dirty="0"/>
              <a:t>Quando a mensagem do terceiro anjo for recebida em sua plenitude, a reforma de saúde terá o seu lugar nos concílios dos campos, no trabalho da igreja, no lar, à mesa e em todos os arranjos do lar. Então o braço direito terá utilidade e protegerá o corpo. CRA 73.2</a:t>
            </a:r>
            <a:br>
              <a:rPr lang="en-B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524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65450-27F8-E133-B70A-A5D404782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4145E-951F-C2A0-5231-A437DF22E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BR" dirty="0"/>
              <a:t>“A obra médico-missionária é o braço direito do evangelho. É necessária ao progresso da causa de Deus. À medida que, por ela, homens e mulheres são levados a ver a importância de corretos hábitos de vida, o poder salvador da verdade será tornado conhecido.” Ev 515.4</a:t>
            </a:r>
            <a:br>
              <a:rPr lang="en-B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973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2116C-17C3-863A-39C1-89761BECA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71" y="1219798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BR" dirty="0"/>
              <a:t>“Assim como o braço direito está ligado ao corpo, também a reforma da saúde e a obra médico-missionária estão ligadas à mensagem do terceiro anjo, e devem trabalhar eficazmente, como o braço direito, para a defesa do corpo da verdade.” MTA 151.2</a:t>
            </a:r>
            <a:br>
              <a:rPr lang="en-B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354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C3FE-E67D-31B8-02E3-FF3A0FA91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Quais </a:t>
            </a:r>
            <a:r>
              <a:rPr lang="en-US" b="1" dirty="0" err="1"/>
              <a:t>foram</a:t>
            </a:r>
            <a:r>
              <a:rPr lang="en-US" b="1" dirty="0"/>
              <a:t> as </a:t>
            </a:r>
            <a:r>
              <a:rPr lang="en-US" b="1" dirty="0" err="1"/>
              <a:t>Três</a:t>
            </a:r>
            <a:r>
              <a:rPr lang="en-US" b="1" dirty="0"/>
              <a:t> </a:t>
            </a:r>
            <a:r>
              <a:rPr lang="en-US" b="1" dirty="0" err="1"/>
              <a:t>Fases</a:t>
            </a:r>
            <a:r>
              <a:rPr lang="en-US" b="1" dirty="0"/>
              <a:t> da </a:t>
            </a:r>
            <a:r>
              <a:rPr lang="en-US" b="1" dirty="0" err="1"/>
              <a:t>Alimentação</a:t>
            </a:r>
            <a:r>
              <a:rPr lang="en-US" b="1" dirty="0"/>
              <a:t> de Elias?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CBDDCA8-7937-0587-DD3B-4644CC305B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5619761"/>
              </p:ext>
            </p:extLst>
          </p:nvPr>
        </p:nvGraphicFramePr>
        <p:xfrm>
          <a:off x="775597" y="2062480"/>
          <a:ext cx="9404724" cy="4196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181">
                  <a:extLst>
                    <a:ext uri="{9D8B030D-6E8A-4147-A177-3AD203B41FA5}">
                      <a16:colId xmlns:a16="http://schemas.microsoft.com/office/drawing/2014/main" val="2846469827"/>
                    </a:ext>
                  </a:extLst>
                </a:gridCol>
                <a:gridCol w="2373542">
                  <a:extLst>
                    <a:ext uri="{9D8B030D-6E8A-4147-A177-3AD203B41FA5}">
                      <a16:colId xmlns:a16="http://schemas.microsoft.com/office/drawing/2014/main" val="490473959"/>
                    </a:ext>
                  </a:extLst>
                </a:gridCol>
                <a:gridCol w="2328820">
                  <a:extLst>
                    <a:ext uri="{9D8B030D-6E8A-4147-A177-3AD203B41FA5}">
                      <a16:colId xmlns:a16="http://schemas.microsoft.com/office/drawing/2014/main" val="121395706"/>
                    </a:ext>
                  </a:extLst>
                </a:gridCol>
                <a:gridCol w="2351181">
                  <a:extLst>
                    <a:ext uri="{9D8B030D-6E8A-4147-A177-3AD203B41FA5}">
                      <a16:colId xmlns:a16="http://schemas.microsoft.com/office/drawing/2014/main" val="1764984544"/>
                    </a:ext>
                  </a:extLst>
                </a:gridCol>
              </a:tblGrid>
              <a:tr h="1389896">
                <a:tc>
                  <a:txBody>
                    <a:bodyPr/>
                    <a:lstStyle/>
                    <a:p>
                      <a:r>
                        <a:rPr lang="en-US" dirty="0"/>
                        <a:t>Elias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1ª Fase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2ª Fase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3ª Fase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253320"/>
                  </a:ext>
                </a:extLst>
              </a:tr>
              <a:tr h="1389896">
                <a:tc>
                  <a:txBody>
                    <a:bodyPr/>
                    <a:lstStyle/>
                    <a:p>
                      <a:r>
                        <a:rPr lang="en-US" dirty="0"/>
                        <a:t>Literal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Pão e Carne – I Reis 17:6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Pão e </a:t>
                      </a:r>
                      <a:r>
                        <a:rPr lang="en-US" dirty="0" err="1"/>
                        <a:t>Azeite</a:t>
                      </a:r>
                      <a:r>
                        <a:rPr lang="en-US" dirty="0"/>
                        <a:t> – I Reis 17:9-11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Pão e </a:t>
                      </a:r>
                      <a:r>
                        <a:rPr lang="en-US" dirty="0" err="1"/>
                        <a:t>Água</a:t>
                      </a:r>
                      <a:r>
                        <a:rPr lang="en-US" dirty="0"/>
                        <a:t> – I Reis 19:6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396922"/>
                  </a:ext>
                </a:extLst>
              </a:tr>
              <a:tr h="1416287">
                <a:tc>
                  <a:txBody>
                    <a:bodyPr/>
                    <a:lstStyle/>
                    <a:p>
                      <a:r>
                        <a:rPr lang="en-US" dirty="0"/>
                        <a:t>Profético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Carnívoro</a:t>
                      </a:r>
                      <a:r>
                        <a:rPr lang="en-US" dirty="0"/>
                        <a:t> Total – </a:t>
                      </a:r>
                      <a:r>
                        <a:rPr lang="en-US" dirty="0" err="1"/>
                        <a:t>Os</a:t>
                      </a:r>
                      <a:r>
                        <a:rPr lang="en-US" dirty="0"/>
                        <a:t> 9:3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Carnívoro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Restrito</a:t>
                      </a:r>
                      <a:r>
                        <a:rPr lang="en-US" dirty="0"/>
                        <a:t> – </a:t>
                      </a:r>
                      <a:r>
                        <a:rPr lang="en-US" dirty="0" err="1"/>
                        <a:t>Sl</a:t>
                      </a:r>
                      <a:r>
                        <a:rPr lang="en-US" dirty="0"/>
                        <a:t> 104:14,15; Is 22:13,14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Vegetariano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Estrito</a:t>
                      </a:r>
                      <a:r>
                        <a:rPr lang="en-US" dirty="0"/>
                        <a:t> – Is 33:15,16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224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5895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1201C-7E34-E3A6-E410-A1AE66FF1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Qual o Perigo da </a:t>
            </a:r>
            <a:r>
              <a:rPr lang="en-BR" b="1" dirty="0"/>
              <a:t>concupiscência do apetite?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2FFD6-FE67-D4A5-9219-11E78284F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209801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BR" sz="2800" dirty="0"/>
              <a:t>“Não nos é possível glorificar a Deus enquanto vivemos em </a:t>
            </a:r>
            <a:r>
              <a:rPr lang="en-BR" sz="2800" b="1" dirty="0"/>
              <a:t>violação das leis da vida</a:t>
            </a:r>
            <a:r>
              <a:rPr lang="en-BR" sz="2800" dirty="0"/>
              <a:t>. Não é possível ao coração manter-se consagrado a Deus enquanto se tolera a </a:t>
            </a:r>
            <a:r>
              <a:rPr lang="en-BR" sz="2800" b="1" dirty="0"/>
              <a:t>concupiscência do apetite</a:t>
            </a:r>
            <a:r>
              <a:rPr lang="en-BR" sz="2800" dirty="0"/>
              <a:t>. Um corpo enfermo e um intelecto desordenado em virtude de contínua tolerância para com a ruinosa concupiscência, </a:t>
            </a:r>
            <a:r>
              <a:rPr lang="en-BR" sz="2800" b="1" dirty="0"/>
              <a:t>torna impossível a santificação do corpo e do espírito</a:t>
            </a:r>
            <a:r>
              <a:rPr lang="en-BR" sz="2800" dirty="0"/>
              <a:t>.” CRA 44.2</a:t>
            </a:r>
            <a:br>
              <a:rPr lang="en-B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899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BB016-5CEF-D740-1379-C356C093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 o </a:t>
            </a:r>
            <a:r>
              <a:rPr lang="en-US" dirty="0" err="1"/>
              <a:t>exemplo</a:t>
            </a:r>
            <a:r>
              <a:rPr lang="en-US" dirty="0"/>
              <a:t> Paulo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deu</a:t>
            </a:r>
            <a:r>
              <a:rPr lang="en-US" dirty="0"/>
              <a:t>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A42F9-F825-F825-D068-CA7981B18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63078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BR" sz="3200" dirty="0"/>
              <a:t>“Portanto, eu assim corro, não como na incerteza; assim eu luto, não como alguém que bate no ar; mas </a:t>
            </a:r>
            <a:r>
              <a:rPr lang="en-BR" sz="3200" b="1" dirty="0"/>
              <a:t>mantenho debaixo o meu corpo</a:t>
            </a:r>
            <a:r>
              <a:rPr lang="en-BR" sz="3200" dirty="0"/>
              <a:t>, e </a:t>
            </a:r>
            <a:r>
              <a:rPr lang="en-BR" sz="3200" i="1" dirty="0"/>
              <a:t>o</a:t>
            </a:r>
            <a:r>
              <a:rPr lang="en-BR" sz="3200" dirty="0"/>
              <a:t> </a:t>
            </a:r>
            <a:r>
              <a:rPr lang="en-BR" sz="3200" b="1" dirty="0"/>
              <a:t>reduzo à </a:t>
            </a:r>
            <a:r>
              <a:rPr lang="en-BR" sz="3200" b="1" dirty="0">
                <a:solidFill>
                  <a:srgbClr val="FFC000"/>
                </a:solidFill>
              </a:rPr>
              <a:t>sujeição</a:t>
            </a:r>
            <a:r>
              <a:rPr lang="en-BR" sz="3200" dirty="0"/>
              <a:t>, para que, por nenhum meio, tendo eu pregado aos outros, eu mesmo seja um rejeitado.” 1 Cor 9:26,27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54366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3A63E-1494-7906-8448-E40B6BDA8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exemplo</a:t>
            </a:r>
            <a:r>
              <a:rPr lang="en-US" dirty="0"/>
              <a:t> o senhor Jesus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deu</a:t>
            </a:r>
            <a:r>
              <a:rPr lang="en-US" dirty="0"/>
              <a:t>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DFCA6-C4F0-CD7F-11A0-A157003E5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52" y="2042758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BR" sz="3200" dirty="0"/>
              <a:t>“E quando ele jejuou quarenta dias e quarenta noites, ele teve fome. E quando veio a ele o tentador, disse: Se tu és o Filho de Deus, ordena que estas pedras sejam feitas pães. Mas ele respondendo, disse: Está escrito: Nem só de pão viverá o homem, mas de toda a palavra que procede da boca de Deus.” Mt 4:2-4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52698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74A2A-28D2-84FD-49D8-9C184A78B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351" y="1331259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BR" sz="3200" dirty="0"/>
              <a:t>“Para Cristo, como para o santo par no Éden, foi o </a:t>
            </a:r>
            <a:r>
              <a:rPr lang="en-BR" sz="3200" b="1" dirty="0"/>
              <a:t>apetite</a:t>
            </a:r>
            <a:r>
              <a:rPr lang="en-BR" sz="3200" dirty="0"/>
              <a:t> o terreno da primeira grande tentação. Exatamente onde começara a ruína, deveria começar a obra de nossa redenção. Como, pela </a:t>
            </a:r>
            <a:r>
              <a:rPr lang="en-BR" sz="3200" b="1" dirty="0"/>
              <a:t>condescendência com o apetite</a:t>
            </a:r>
            <a:r>
              <a:rPr lang="en-BR" sz="3200" dirty="0"/>
              <a:t>, caíra Adão, assim, pela </a:t>
            </a:r>
            <a:r>
              <a:rPr lang="en-BR" sz="3200" b="1" dirty="0"/>
              <a:t>negação do mesmo</a:t>
            </a:r>
            <a:r>
              <a:rPr lang="en-BR" sz="3200" dirty="0"/>
              <a:t>, devia Cristo vencer.” DTN 72.3</a:t>
            </a:r>
            <a:br>
              <a:rPr lang="en-B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927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F5653-AA71-3E44-A74D-51BE88AF1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881" y="1219798"/>
            <a:ext cx="8946541" cy="41954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BR" sz="3600" dirty="0"/>
              <a:t>O homem é muito caro a Deus, pois foi formado segundo a Sua imagem. Este fato deve impressionar-nos com a importância de ensinar por preceito e exemplo o pecado de macular, por condescendência para com o apetite ou por qualquer outro pecado, o corpo que é destinado a representar Deus ao mundo. CRA 45.2</a:t>
            </a:r>
            <a:br>
              <a:rPr lang="en-BR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19926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5ADE6-1D70-B008-3555-2CCF9B381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097878"/>
            <a:ext cx="8946541" cy="419548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BR" sz="3600" dirty="0"/>
              <a:t>Todo verdadeiro cristão terá controle sobre seus apetites e paixões. A menos que ele esteja livre da servidão do apetite, não pode ser fiel e obediente servo de Cristo. </a:t>
            </a:r>
            <a:r>
              <a:rPr lang="en-BR" sz="3600" b="1" dirty="0"/>
              <a:t>A condescendência com o apetite e as paixões embotam o efeito da verdade sobre o coração</a:t>
            </a:r>
            <a:r>
              <a:rPr lang="en-BR" sz="3600" dirty="0"/>
              <a:t>. CRA 427.1</a:t>
            </a:r>
            <a:br>
              <a:rPr lang="en-BR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3365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20659-7F0A-F747-7400-4CF37D952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672" y="843878"/>
            <a:ext cx="8955088" cy="466284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BR" sz="3000" dirty="0"/>
              <a:t>Nossos pastores, que conhecem a verdade, devem despertar o povo de sua condição de paralisia, e levá-lo a abandonar as coisas que criam o apetite quanto à carne. Caso negligenciem reformar-se, perderão o poder espiritual, e tornar-se-ão mais e mais aviltados por pecaminosa condescendência. Hábitos que desgostam ao universo celeste, que degradam seres humanos mais baixo que os animais, são nutridos em muitos lares. CRA 399.2</a:t>
            </a:r>
            <a:br>
              <a:rPr lang="en-B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7983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221C0-5613-8445-93CB-E080F07FD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871" y="1331259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BR" sz="4400" dirty="0"/>
              <a:t>“Mui amados, rogo-vos, como estrangeiros e peregrinos, que vos abstenhais das concupiscências carnais, que guerreiam contra a alma.”1 Pe 2:11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28197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4ABBA-5D6F-DEAE-43E7-0F8AAD30F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5232" y="1229958"/>
            <a:ext cx="8946541" cy="41954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BR" sz="4000" dirty="0"/>
              <a:t>“Que nenhum de nossos </a:t>
            </a:r>
            <a:r>
              <a:rPr lang="en-BR" sz="4000" b="1" dirty="0"/>
              <a:t>pastores</a:t>
            </a:r>
            <a:r>
              <a:rPr lang="en-BR" sz="4000" dirty="0"/>
              <a:t> estabeleça um mau exemplo no </a:t>
            </a:r>
            <a:r>
              <a:rPr lang="en-BR" sz="4000" b="1" dirty="0"/>
              <a:t>comer carne</a:t>
            </a:r>
            <a:r>
              <a:rPr lang="en-BR" sz="4000" dirty="0"/>
              <a:t>. </a:t>
            </a:r>
            <a:r>
              <a:rPr lang="en-BR" sz="4000" b="1" dirty="0"/>
              <a:t>Que eles e sua família vivam segundo a luz da reforma de saúde</a:t>
            </a:r>
            <a:r>
              <a:rPr lang="en-BR" sz="4000" dirty="0"/>
              <a:t>. Não animalizem nossos pastores sua natureza e a de seus filhos.” CRA 399.3</a:t>
            </a:r>
            <a:br>
              <a:rPr lang="en-BR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618923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EEB70-6B94-6B1B-CC41-754A8469B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152" y="1331259"/>
            <a:ext cx="9524048" cy="47647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BR" sz="2800" dirty="0"/>
              <a:t>Há entre os adventistas do sétimo dia pessoas que não darão ouvidos à luz a eles dada relativamente a essa questão. Fazem da carne parte de seu regime dietético. Sobrevêm-lhes doença. Enfermos e sofrendo em resultado de sua própria direção errônea, pedem orações dos filhos de Deus. Mas como pode o Senhor operar em seu favor quando eles não estão dispostos a fazer-Lhe a vontade, quando se recusam a dar ouvidos a Suas instruções no que concerne à reforma de saúde? CRA 400.4</a:t>
            </a:r>
            <a:br>
              <a:rPr lang="en-BR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34359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5FF50-90EF-1B08-837E-9E1436063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392" y="1331259"/>
            <a:ext cx="8946541" cy="41954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BR" sz="4000" dirty="0"/>
              <a:t>“Andem nossos pastores e colportores sob a bandeira da estrita temperança. Nunca vos envergonheis de dizer: ‘Não, obrigado; não como carne. Tenho conscienciosos escrúpulos quanto a comer carne de animais mortos.’” CRA 402.2</a:t>
            </a:r>
            <a:br>
              <a:rPr lang="en-BR" sz="4000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5752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055B2-1396-A561-7E2F-3EE0D4354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BE2ED-AAFC-FF6F-85A8-54B8F53EC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BR" dirty="0"/>
              <a:t>Como um povo, foi-nos dada a obra de tornar conhecidos os princípios da reforma de saúde. Alguns há que pensam que a questão do regime alimentar não seja de importância suficiente para ser incluída em seu trabalho evangélico. Mas esses cometem um grande erro. A Palavra de Deus declara: “Portanto, quer comais, quer bebais, ou façais outra qualquer coisa, fazei tudo para glória de Deus.” 1 Coríntios 10:31. O assunto da temperança, em todas as suas modalidades, tem lugar importante na obra da salvação. CRA 450.3</a:t>
            </a:r>
            <a:br>
              <a:rPr lang="en-B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321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015FA-3083-80D9-D3CB-F71306D66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472" y="1331259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BR" dirty="0"/>
              <a:t>Nossos ministros devem tornar-se inteligentes nesta questão. Não a devem ignorar, nem se desviar pelos que os chamam extremistas. Verifiquem o que constitui a verdadeira reforma de saúde, e ensinem-lhe os princípios, tanto por preceito, como por tranqüilo e coerente exemplo. CRA 451.3</a:t>
            </a:r>
            <a:br>
              <a:rPr lang="en-B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667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B2CD0-0A73-7C55-B77C-7E4707BC8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D7009-EF30-B810-0F44-9D3F3CB92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BR" dirty="0"/>
              <a:t>“Por que manifestam alguns de nossos irmãos pastores, tão pouco interesse na reforma de saúde? É porque as instruções quanto à temperança em todas as coisas se acham em oposição a sua prática de condescendência consigo mesmos. Em alguns lugares isto tem sido a grande pedra de tropeço no caminho de levarmos o povo a investigar, e praticar e ensinar a reforma de saúde. Homem algum deve ser separado como mestre do povo enquanto seu ensino ou exemplo contradiz o testemunho que Deus deu a Seus servos para apresentar relativamente ao regime, pois isto trará confusão. </a:t>
            </a:r>
            <a:r>
              <a:rPr lang="en-BR" b="1" dirty="0"/>
              <a:t>Sua desconsideração da reforma de saúde desqualifica-o para estar como mensageiro do Senhor.”</a:t>
            </a:r>
            <a:r>
              <a:rPr lang="en-BR" dirty="0"/>
              <a:t> CRA 453.4</a:t>
            </a:r>
            <a:br>
              <a:rPr lang="en-B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875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E269C-AC13-02B3-87A7-8E0D974AF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15A76-F9E9-0355-A1A5-C40F15F3D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63078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BR" dirty="0"/>
              <a:t>A abstinência de todo alimento e bebida prejudiciais é o fruto da verdadeira religião. </a:t>
            </a:r>
            <a:r>
              <a:rPr lang="en-BR" b="1" u="sng" dirty="0"/>
              <a:t>Aquele que é perfeitamente convertido abandonará</a:t>
            </a:r>
            <a:r>
              <a:rPr lang="en-BR" dirty="0"/>
              <a:t> todo hábito e apetite prejudiciais. Pela abstinência total vencerá ele o desejo das condescendências que destroem a saúde. CRA 457.1</a:t>
            </a:r>
            <a:br>
              <a:rPr lang="en-B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733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FAADA-CB43-E554-DD96-4636A01CC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991" y="1579881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BR" sz="4000" dirty="0"/>
              <a:t>Pois aqueles que são de Cristo já crucificaram a carne com as paixões e concupiscências. Gál 5:24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046486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500</TotalTime>
  <Words>2467</Words>
  <Application>Microsoft Macintosh PowerPoint</Application>
  <PresentationFormat>Widescreen</PresentationFormat>
  <Paragraphs>115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Berlin Sans FB</vt:lpstr>
      <vt:lpstr>Century Gothic</vt:lpstr>
      <vt:lpstr>Wingdings 3</vt:lpstr>
      <vt:lpstr>Ion</vt:lpstr>
      <vt:lpstr>O Elias Profético</vt:lpstr>
      <vt:lpstr>PowerPoint Presentation</vt:lpstr>
      <vt:lpstr>Quem foi Elias, o Tesbita? </vt:lpstr>
      <vt:lpstr>O que Elias tem a ver conosco?</vt:lpstr>
      <vt:lpstr>O Anúncio da vinda de Elias</vt:lpstr>
      <vt:lpstr>O Anúncio da vinda de Elias</vt:lpstr>
      <vt:lpstr>Quem Elias representa?</vt:lpstr>
      <vt:lpstr>PowerPoint Presentation</vt:lpstr>
      <vt:lpstr>PowerPoint Presentation</vt:lpstr>
      <vt:lpstr>Qual a mensagem do Elias Profético?</vt:lpstr>
      <vt:lpstr>Quem o terceiro anjo representa?</vt:lpstr>
      <vt:lpstr>Quais as características do do TERCEIRO ANJO?</vt:lpstr>
      <vt:lpstr>No que consiste a Mesagem do Terceiro Anjo? </vt:lpstr>
      <vt:lpstr>O que é profetizado acerca dessa mensagem?</vt:lpstr>
      <vt:lpstr>Qual é o Braço Direito desta Mensagem?</vt:lpstr>
      <vt:lpstr>PowerPoint Presentation</vt:lpstr>
      <vt:lpstr>PowerPoint Presentation</vt:lpstr>
      <vt:lpstr>PowerPoint Presentation</vt:lpstr>
      <vt:lpstr>Quais foram as Três Fases da Alimentação de Elias?</vt:lpstr>
      <vt:lpstr>Qual o Perigo da concupiscência do apetite?</vt:lpstr>
      <vt:lpstr>Qual o exemplo Paulo nos deu? </vt:lpstr>
      <vt:lpstr>Que exemplo o senhor Jesus nos deu?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Araujo</dc:creator>
  <cp:lastModifiedBy>Felipe Araujo</cp:lastModifiedBy>
  <cp:revision>42</cp:revision>
  <dcterms:created xsi:type="dcterms:W3CDTF">2026-08-07T15:29:53Z</dcterms:created>
  <dcterms:modified xsi:type="dcterms:W3CDTF">2026-08-07T23:50:23Z</dcterms:modified>
</cp:coreProperties>
</file>